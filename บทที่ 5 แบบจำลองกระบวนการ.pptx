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08" r:id="rId2"/>
  </p:sldMasterIdLst>
  <p:notesMasterIdLst>
    <p:notesMasterId r:id="rId70"/>
  </p:notesMasterIdLst>
  <p:sldIdLst>
    <p:sldId id="257" r:id="rId3"/>
    <p:sldId id="258" r:id="rId4"/>
    <p:sldId id="388" r:id="rId5"/>
    <p:sldId id="389" r:id="rId6"/>
    <p:sldId id="390" r:id="rId7"/>
    <p:sldId id="391" r:id="rId8"/>
    <p:sldId id="392" r:id="rId9"/>
    <p:sldId id="393" r:id="rId10"/>
    <p:sldId id="364" r:id="rId11"/>
    <p:sldId id="394" r:id="rId12"/>
    <p:sldId id="395" r:id="rId13"/>
    <p:sldId id="365" r:id="rId14"/>
    <p:sldId id="396" r:id="rId15"/>
    <p:sldId id="397" r:id="rId16"/>
    <p:sldId id="290" r:id="rId17"/>
    <p:sldId id="454" r:id="rId18"/>
    <p:sldId id="455" r:id="rId19"/>
    <p:sldId id="456" r:id="rId20"/>
    <p:sldId id="422" r:id="rId21"/>
    <p:sldId id="433" r:id="rId22"/>
    <p:sldId id="457" r:id="rId23"/>
    <p:sldId id="458" r:id="rId24"/>
    <p:sldId id="459" r:id="rId25"/>
    <p:sldId id="460" r:id="rId26"/>
    <p:sldId id="461" r:id="rId27"/>
    <p:sldId id="424" r:id="rId28"/>
    <p:sldId id="425" r:id="rId29"/>
    <p:sldId id="426" r:id="rId30"/>
    <p:sldId id="427" r:id="rId31"/>
    <p:sldId id="428" r:id="rId32"/>
    <p:sldId id="429" r:id="rId33"/>
    <p:sldId id="430" r:id="rId34"/>
    <p:sldId id="431" r:id="rId35"/>
    <p:sldId id="434" r:id="rId36"/>
    <p:sldId id="435" r:id="rId37"/>
    <p:sldId id="436" r:id="rId38"/>
    <p:sldId id="437" r:id="rId39"/>
    <p:sldId id="438" r:id="rId40"/>
    <p:sldId id="439" r:id="rId41"/>
    <p:sldId id="440" r:id="rId42"/>
    <p:sldId id="441" r:id="rId43"/>
    <p:sldId id="442" r:id="rId44"/>
    <p:sldId id="443" r:id="rId45"/>
    <p:sldId id="444" r:id="rId46"/>
    <p:sldId id="445" r:id="rId47"/>
    <p:sldId id="446" r:id="rId48"/>
    <p:sldId id="447" r:id="rId49"/>
    <p:sldId id="448" r:id="rId50"/>
    <p:sldId id="449" r:id="rId51"/>
    <p:sldId id="450" r:id="rId52"/>
    <p:sldId id="451" r:id="rId53"/>
    <p:sldId id="452" r:id="rId54"/>
    <p:sldId id="453" r:id="rId55"/>
    <p:sldId id="404" r:id="rId56"/>
    <p:sldId id="405" r:id="rId57"/>
    <p:sldId id="406" r:id="rId58"/>
    <p:sldId id="407" r:id="rId59"/>
    <p:sldId id="408" r:id="rId60"/>
    <p:sldId id="409" r:id="rId61"/>
    <p:sldId id="410" r:id="rId62"/>
    <p:sldId id="411" r:id="rId63"/>
    <p:sldId id="414" r:id="rId64"/>
    <p:sldId id="415" r:id="rId65"/>
    <p:sldId id="418" r:id="rId66"/>
    <p:sldId id="419" r:id="rId67"/>
    <p:sldId id="420" r:id="rId68"/>
    <p:sldId id="421" r:id="rId69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FF66"/>
    <a:srgbClr val="FFCC99"/>
    <a:srgbClr val="FFCCFF"/>
    <a:srgbClr val="231F20"/>
    <a:srgbClr val="FEF200"/>
    <a:srgbClr val="ED008C"/>
    <a:srgbClr val="01AEF0"/>
    <a:srgbClr val="FF505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4364" autoAdjust="0"/>
  </p:normalViewPr>
  <p:slideViewPr>
    <p:cSldViewPr snapToGrid="0">
      <p:cViewPr varScale="1">
        <p:scale>
          <a:sx n="78" d="100"/>
          <a:sy n="78" d="100"/>
        </p:scale>
        <p:origin x="89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8BB16-A843-4CF4-833C-5E418F8370FC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02F9E-5F50-4C1E-8621-7AAF142C3CC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04228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02F9E-5F50-4C1E-8621-7AAF142C3CCC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79985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02F9E-5F50-4C1E-8621-7AAF142C3CCC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15735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เป็นชุดสูตรคำนวณที่ใช้อธิบายลักษณะทาวเทคนิคของระบบ สามารถนำมาใช้ยืนยันความแม่นยำและความเที่ยงตรงของระบบได้ดี ผ่านสูตรการคำนวณ แบบจำลองทางคณิตศาสตร์ถูกนำมาใช้ทางธุรกิจ</a:t>
            </a:r>
            <a:r>
              <a:rPr lang="th-TH" baseline="0" dirty="0"/>
              <a:t> เช่น ระบบคำนวณเงินเดือน ที่จะต้องมีสูตรการคิดภาษี 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02F9E-5F50-4C1E-8621-7AAF142C3CCC}" type="slidenum">
              <a:rPr lang="th-TH" smtClean="0"/>
              <a:t>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18284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เป็นประโยคหรือถ้อยคำบรรยายด้วยภาษาธรรมชาติ</a:t>
            </a:r>
            <a:r>
              <a:rPr lang="th-TH" baseline="0" dirty="0"/>
              <a:t> เช่น การบันทึกข้อมูลการสัมภาษณ์ของผู้ใช้ เกี่ยวกับความต้องการด้านต่าง ๆ ซึ่งจะสามารถนำไปวิเคราะห์เพื่อสร้างเป็นข้อกำหนดความต้องการขึ้นมา รวมถึงอธิบายขั้นตอนการทำงาน และซูโดโค้ดแบบประโยคโครงสร้างภาษาอังกฤษ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02F9E-5F50-4C1E-8621-7AAF142C3CCC}" type="slidenum">
              <a:rPr lang="th-TH" smtClean="0"/>
              <a:t>10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95209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แบบจำลองแผนภาพประกอบด้วยแผนภาพหรือไดอะแกรมต่าง ๆ ที่นำเสนอภาพรวมของระบบที่มีความซับซ้อนให้สามารถสื่อสารระหว่างกันได้ง่ายขึ้น หรืออาจเข้าใจได้ในทันทีด้วยการเห็นแผนภาพ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02F9E-5F50-4C1E-8621-7AAF142C3CCC}" type="slidenum">
              <a:rPr lang="th-TH" smtClean="0"/>
              <a:t>11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09547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กิจกรรมการวิเคราะห์ จะนิยามความต้องการของระบบที่เกี่ยวข้อง</a:t>
            </a:r>
            <a:r>
              <a:rPr lang="th-TH" baseline="0" dirty="0"/>
              <a:t> ผ่านแบบจำลองชนิดต่าง ๆ 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02F9E-5F50-4C1E-8621-7AAF142C3CCC}" type="slidenum">
              <a:rPr lang="th-TH" smtClean="0"/>
              <a:t>12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4885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002F9E-5F50-4C1E-8621-7AAF142C3CCC}" type="slidenum">
              <a:rPr lang="th-TH" smtClean="0"/>
              <a:t>15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83942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06678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32424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30589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581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9898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807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9526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853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11742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1119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39766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BEF0D-F0BB-DE4B-95CE-6DB70DBA9567}" type="datetimeFigureOut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2489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BEF0D-F0BB-DE4B-95CE-6DB70DBA9567}" type="datetimeFigureOut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832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BEF0D-F0BB-DE4B-95CE-6DB70DBA9567}" type="datetimeFigureOut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526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BEF0D-F0BB-DE4B-95CE-6DB70DBA9567}" type="datetimeFigureOut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8925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BEF0D-F0BB-DE4B-95CE-6DB70DBA9567}" type="datetimeFigureOut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62563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BEF0D-F0BB-DE4B-95CE-6DB70DBA9567}" type="datetimeFigureOut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776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BEF0D-F0BB-DE4B-95CE-6DB70DBA9567}" type="datetimeFigureOut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41974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BEF0D-F0BB-DE4B-95CE-6DB70DBA9567}" type="datetimeFigureOut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872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BEF0D-F0BB-DE4B-95CE-6DB70DBA9567}" type="datetimeFigureOut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7807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BEF0D-F0BB-DE4B-95CE-6DB70DBA9567}" type="datetimeFigureOut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671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BEF0D-F0BB-DE4B-95CE-6DB70DBA9567}" type="datetimeFigureOut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A3260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1A3260">
                  <a:lumMod val="75000"/>
                  <a:lumOff val="25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849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28E76FC-EE3C-4EF3-B788-997885EA6313}" type="datetimeFigureOut">
              <a:rPr lang="th-TH" smtClean="0"/>
              <a:t>09/12/68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DB8FD9F-038B-4337-B69C-9EDB45CC2D49}" type="slidenum">
              <a:rPr lang="th-TH" smtClean="0"/>
              <a:t>‹#›</a:t>
            </a:fld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72446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BEF0D-F0BB-DE4B-95CE-6DB70DBA9567}" type="datetimeFigureOut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12/9/2025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00111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oleObject" Target="../embeddings/oleObject2.bin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8676" y="1463773"/>
            <a:ext cx="10993549" cy="1322290"/>
          </a:xfrm>
        </p:spPr>
        <p:txBody>
          <a:bodyPr>
            <a:normAutofit fontScale="90000"/>
          </a:bodyPr>
          <a:lstStyle/>
          <a:p>
            <a:pPr algn="ctr"/>
            <a:r>
              <a:rPr lang="th-TH" sz="4400" dirty="0">
                <a:latin typeface="Kanit" pitchFamily="2" charset="-34"/>
                <a:cs typeface="Kanit" pitchFamily="2" charset="-34"/>
              </a:rPr>
              <a:t>บทที่ </a:t>
            </a:r>
            <a:r>
              <a:rPr lang="en-US" sz="4400" dirty="0">
                <a:latin typeface="Kanit" pitchFamily="2" charset="-34"/>
                <a:cs typeface="Kanit" pitchFamily="2" charset="-34"/>
              </a:rPr>
              <a:t>5</a:t>
            </a:r>
            <a:br>
              <a:rPr lang="en-US" sz="4400" dirty="0">
                <a:latin typeface="Kanit" pitchFamily="2" charset="-34"/>
                <a:cs typeface="Kanit" pitchFamily="2" charset="-34"/>
              </a:rPr>
            </a:br>
            <a:r>
              <a:rPr lang="th-TH" sz="4000" dirty="0">
                <a:latin typeface="Kanit" pitchFamily="2" charset="-34"/>
                <a:cs typeface="Kanit" pitchFamily="2" charset="-34"/>
              </a:rPr>
              <a:t>แบบจำลองกระบวนการ</a:t>
            </a:r>
            <a:endParaRPr lang="th-TH" sz="4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62261" y="5881457"/>
            <a:ext cx="5332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Asst. Prof. </a:t>
            </a:r>
            <a:r>
              <a:rPr lang="en-US" sz="1800" dirty="0" err="1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Nonglak</a:t>
            </a:r>
            <a:r>
              <a:rPr lang="en-US" sz="18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Untadech</a:t>
            </a:r>
            <a:endParaRPr lang="th-TH" sz="1800" dirty="0">
              <a:solidFill>
                <a:schemeClr val="bg1"/>
              </a:solidFill>
              <a:latin typeface="Kanit" pitchFamily="2" charset="-34"/>
              <a:cs typeface="Kanit" pitchFamily="2" charset="-3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76" y="622776"/>
            <a:ext cx="2599324" cy="77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2212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7"/>
            <a:ext cx="11029616" cy="821844"/>
          </a:xfrm>
        </p:spPr>
        <p:txBody>
          <a:bodyPr>
            <a:normAutofit/>
          </a:bodyPr>
          <a:lstStyle/>
          <a:p>
            <a:r>
              <a:rPr lang="th-TH" sz="3200" dirty="0">
                <a:latin typeface="Kanit" pitchFamily="2" charset="-34"/>
                <a:cs typeface="Kanit" pitchFamily="2" charset="-34"/>
              </a:rPr>
              <a:t>บทที่ </a:t>
            </a:r>
            <a:r>
              <a:rPr lang="en-US" sz="3200" dirty="0">
                <a:latin typeface="Kanit" pitchFamily="2" charset="-34"/>
                <a:cs typeface="Kanit" pitchFamily="2" charset="-34"/>
              </a:rPr>
              <a:t>5</a:t>
            </a:r>
            <a:r>
              <a:rPr lang="th-TH" sz="3200" dirty="0">
                <a:latin typeface="Kanit" pitchFamily="2" charset="-34"/>
                <a:cs typeface="Kanit" pitchFamily="2" charset="-34"/>
              </a:rPr>
              <a:t> แบบจำลองกระบวนการ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81192" y="1995050"/>
            <a:ext cx="10765681" cy="46412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แบบจำลองชนิดต่างๆ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จุดประสงค์ของแบบจำลอง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ชนิดของแบบจำลอง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ภาพรวมของแบบจำลองที่นำมาใช้กับงานวิเคราะห์และออกแบบ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แบบจำลองกระบวนการ (</a:t>
            </a:r>
            <a:r>
              <a:rPr lang="en-US" sz="28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Process Model)</a:t>
            </a:r>
          </a:p>
        </p:txBody>
      </p:sp>
    </p:spTree>
    <p:extLst>
      <p:ext uri="{BB962C8B-B14F-4D97-AF65-F5344CB8AC3E}">
        <p14:creationId xmlns:p14="http://schemas.microsoft.com/office/powerpoint/2010/main" val="195910147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à¸à¸¥à¸à¸²à¸£à¸à¹à¸à¸«à¸²à¸£à¸¹à¸à¸ à¸²à¸à¸ªà¸³à¸«à¸£à¸±à¸ flowchart">
            <a:extLst>
              <a:ext uri="{FF2B5EF4-FFF2-40B4-BE49-F238E27FC236}">
                <a16:creationId xmlns:a16="http://schemas.microsoft.com/office/drawing/2014/main" id="{6C5DC94D-B3F2-4B21-8637-895050C82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849" y="751054"/>
            <a:ext cx="5873259" cy="5895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781490" y="1838934"/>
            <a:ext cx="2056312" cy="76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Flowchart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081" y="663588"/>
            <a:ext cx="3809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3200" dirty="0">
                <a:latin typeface="Kanit" pitchFamily="2" charset="-34"/>
                <a:cs typeface="Kanit" pitchFamily="2" charset="-34"/>
              </a:rPr>
              <a:t>แบบจำลองชนิดต่าง ๆ</a:t>
            </a:r>
          </a:p>
        </p:txBody>
      </p:sp>
    </p:spTree>
    <p:extLst>
      <p:ext uri="{BB962C8B-B14F-4D97-AF65-F5344CB8AC3E}">
        <p14:creationId xmlns:p14="http://schemas.microsoft.com/office/powerpoint/2010/main" val="1564171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à¸à¸¥à¸à¸²à¸£à¸à¹à¸à¸«à¸²à¸£à¸¹à¸à¸ à¸²à¸à¸ªà¸³à¸«à¸£à¸±à¸ use case diagram">
            <a:extLst>
              <a:ext uri="{FF2B5EF4-FFF2-40B4-BE49-F238E27FC236}">
                <a16:creationId xmlns:a16="http://schemas.microsoft.com/office/drawing/2014/main" id="{A745641D-3A30-4CB5-A72F-E08887859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421" y="663588"/>
            <a:ext cx="6957281" cy="614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8011846" y="977285"/>
            <a:ext cx="3809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32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แบบจำลองชนิดต่าง 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649" y="5695499"/>
            <a:ext cx="3640488" cy="76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Use Case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081" y="663588"/>
            <a:ext cx="3809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3200" dirty="0">
                <a:latin typeface="Kanit" pitchFamily="2" charset="-34"/>
                <a:cs typeface="Kanit" pitchFamily="2" charset="-34"/>
              </a:rPr>
              <a:t>แบบจำลองชนิดต่าง ๆ</a:t>
            </a:r>
          </a:p>
        </p:txBody>
      </p:sp>
    </p:spTree>
    <p:extLst>
      <p:ext uri="{BB962C8B-B14F-4D97-AF65-F5344CB8AC3E}">
        <p14:creationId xmlns:p14="http://schemas.microsoft.com/office/powerpoint/2010/main" val="17276014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482904" y="977285"/>
            <a:ext cx="3809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3200" dirty="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แบบจำลองชนิดต่าง ๆ</a:t>
            </a:r>
          </a:p>
        </p:txBody>
      </p:sp>
      <p:pic>
        <p:nvPicPr>
          <p:cNvPr id="9" name="Picture 4" descr="à¸à¸¥à¸à¸²à¸£à¸à¹à¸à¸«à¸²à¸£à¸¹à¸à¸ à¸²à¸à¸ªà¸³à¸«à¸£à¸±à¸ context diagram">
            <a:extLst>
              <a:ext uri="{FF2B5EF4-FFF2-40B4-BE49-F238E27FC236}">
                <a16:creationId xmlns:a16="http://schemas.microsoft.com/office/drawing/2014/main" id="{B67313B0-2B0A-46A0-A16C-EB52CBCBD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037" y="1412775"/>
            <a:ext cx="7929618" cy="511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73480" y="4429204"/>
            <a:ext cx="1944216" cy="14465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Context </a:t>
            </a:r>
          </a:p>
          <a:p>
            <a:pPr algn="ctr"/>
            <a:r>
              <a:rPr lang="en-US" sz="44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081" y="663588"/>
            <a:ext cx="3809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3200" dirty="0">
                <a:latin typeface="Kanit" pitchFamily="2" charset="-34"/>
                <a:cs typeface="Kanit" pitchFamily="2" charset="-34"/>
              </a:rPr>
              <a:t>แบบจำลองชนิดต่าง ๆ</a:t>
            </a:r>
          </a:p>
        </p:txBody>
      </p:sp>
    </p:spTree>
    <p:extLst>
      <p:ext uri="{BB962C8B-B14F-4D97-AF65-F5344CB8AC3E}">
        <p14:creationId xmlns:p14="http://schemas.microsoft.com/office/powerpoint/2010/main" val="40370854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5081" y="663588"/>
            <a:ext cx="3809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3200" dirty="0">
                <a:latin typeface="Kanit" pitchFamily="2" charset="-34"/>
                <a:cs typeface="Kanit" pitchFamily="2" charset="-34"/>
              </a:rPr>
              <a:t>แบบจำลองชนิดต่าง ๆ</a:t>
            </a:r>
          </a:p>
        </p:txBody>
      </p:sp>
      <p:pic>
        <p:nvPicPr>
          <p:cNvPr id="3" name="Picture 2" descr="à¸£à¸¹à¸à¸ à¸²à¸à¸à¸µà¹à¹à¸à¸µà¹à¸¢à¸§à¸à¹à¸­à¸">
            <a:extLst>
              <a:ext uri="{FF2B5EF4-FFF2-40B4-BE49-F238E27FC236}">
                <a16:creationId xmlns:a16="http://schemas.microsoft.com/office/drawing/2014/main" id="{8DF491D4-ED35-47BD-AF2C-004FE837E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850" y="1248363"/>
            <a:ext cx="6555446" cy="5648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11928" y="1789646"/>
            <a:ext cx="2383212" cy="14465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Data Flow </a:t>
            </a:r>
          </a:p>
          <a:p>
            <a:pPr algn="ctr"/>
            <a:r>
              <a:rPr lang="en-US" sz="44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Diagram</a:t>
            </a:r>
          </a:p>
        </p:txBody>
      </p:sp>
    </p:spTree>
    <p:extLst>
      <p:ext uri="{BB962C8B-B14F-4D97-AF65-F5344CB8AC3E}">
        <p14:creationId xmlns:p14="http://schemas.microsoft.com/office/powerpoint/2010/main" val="9774186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5081" y="663588"/>
            <a:ext cx="38090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3200" dirty="0">
                <a:latin typeface="Kanit" pitchFamily="2" charset="-34"/>
                <a:cs typeface="Kanit" pitchFamily="2" charset="-34"/>
              </a:rPr>
              <a:t>แบบจำลองชนิดต่าง ๆ</a:t>
            </a:r>
          </a:p>
        </p:txBody>
      </p:sp>
      <p:pic>
        <p:nvPicPr>
          <p:cNvPr id="3" name="Picture 2" descr="à¸à¸¥à¸à¸²à¸£à¸à¹à¸à¸«à¸²à¸£à¸¹à¸à¸ à¸²à¸à¸ªà¸³à¸«à¸£à¸±à¸ e-r diagram">
            <a:extLst>
              <a:ext uri="{FF2B5EF4-FFF2-40B4-BE49-F238E27FC236}">
                <a16:creationId xmlns:a16="http://schemas.microsoft.com/office/drawing/2014/main" id="{2AFFCA51-B911-4772-A32A-4728DE479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591" y="1370585"/>
            <a:ext cx="8701088" cy="516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2214" y="5761374"/>
            <a:ext cx="2520280" cy="76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E-R Diagram</a:t>
            </a:r>
          </a:p>
        </p:txBody>
      </p:sp>
    </p:spTree>
    <p:extLst>
      <p:ext uri="{BB962C8B-B14F-4D97-AF65-F5344CB8AC3E}">
        <p14:creationId xmlns:p14="http://schemas.microsoft.com/office/powerpoint/2010/main" val="35869824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65" y="716010"/>
            <a:ext cx="11029616" cy="1013800"/>
          </a:xfrm>
        </p:spPr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จุดประสงค์ของแบบจำลอง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233055" y="2202871"/>
            <a:ext cx="10335490" cy="396956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เพื่อเรียนรู้กระบวนการสร้างแบบจำลอง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ลดความซ้ำซ้อนในสิ่งที่เป็นนามธรรม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ช่วยจดจำรายละเอียดทั้งหมด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เพื่อสื่อสารกับสมาชิกในทีม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เพื่อสื่อสารกับผู้ใช้ รวมถึงผู้มีส่วนได้เสียในระบบ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ช่วยบันทึกข้อมูลในรูปของเอกสาร เพื่อประโยชน์ต่อการบำรุงรักษาในอนาคต</a:t>
            </a:r>
          </a:p>
        </p:txBody>
      </p:sp>
    </p:spTree>
    <p:extLst>
      <p:ext uri="{BB962C8B-B14F-4D97-AF65-F5344CB8AC3E}">
        <p14:creationId xmlns:p14="http://schemas.microsoft.com/office/powerpoint/2010/main" val="411730518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65" y="716010"/>
            <a:ext cx="11029616" cy="1013800"/>
          </a:xfrm>
        </p:spPr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ชนิดของแบบจำลอง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50465" y="2202871"/>
            <a:ext cx="10918080" cy="396956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h-TH" sz="33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แบ่งออกเป็น 3 ชนิด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th-TH" sz="33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1. แบบจำลองทางคณิตศาสตร์</a:t>
            </a:r>
          </a:p>
          <a:p>
            <a:pPr marL="594000" lvl="2" indent="0">
              <a:lnSpc>
                <a:spcPct val="150000"/>
              </a:lnSpc>
              <a:buNone/>
            </a:pPr>
            <a:r>
              <a:rPr lang="th-TH" sz="29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- สูตรคำนวณภาษี</a:t>
            </a:r>
          </a:p>
          <a:p>
            <a:pPr marL="594000" lvl="2" indent="0">
              <a:lnSpc>
                <a:spcPct val="150000"/>
              </a:lnSpc>
              <a:buNone/>
            </a:pPr>
            <a:r>
              <a:rPr lang="th-TH" sz="29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- สูตรคำนวณค่าคอมมิชชัน</a:t>
            </a:r>
          </a:p>
          <a:p>
            <a:pPr marL="594000" lvl="2" indent="0">
              <a:lnSpc>
                <a:spcPct val="150000"/>
              </a:lnSpc>
              <a:buNone/>
            </a:pPr>
            <a:r>
              <a:rPr lang="th-TH" sz="29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- สูตรคำนวณราคาสินค้า</a:t>
            </a:r>
          </a:p>
          <a:p>
            <a:pPr marL="594000" lvl="2" indent="0">
              <a:lnSpc>
                <a:spcPct val="150000"/>
              </a:lnSpc>
              <a:buNone/>
            </a:pPr>
            <a:r>
              <a:rPr lang="th-TH" sz="29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	- สูตรทางการเงินอื่น ๆ</a:t>
            </a:r>
          </a:p>
        </p:txBody>
      </p:sp>
    </p:spTree>
    <p:extLst>
      <p:ext uri="{BB962C8B-B14F-4D97-AF65-F5344CB8AC3E}">
        <p14:creationId xmlns:p14="http://schemas.microsoft.com/office/powerpoint/2010/main" val="325227537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65" y="716010"/>
            <a:ext cx="11029616" cy="1013800"/>
          </a:xfrm>
        </p:spPr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ชนิดของแบบจำลอง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75158" y="2202871"/>
            <a:ext cx="10918080" cy="180109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h-TH" sz="33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2. แบบจำลองคำบรรยาย	</a:t>
            </a:r>
          </a:p>
          <a:p>
            <a:pPr marL="594000" lvl="2" indent="0">
              <a:lnSpc>
                <a:spcPct val="150000"/>
              </a:lnSpc>
              <a:buNone/>
            </a:pPr>
            <a:endParaRPr lang="th-TH" sz="29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606" y="2015098"/>
            <a:ext cx="4248472" cy="458168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63783" y="3228723"/>
            <a:ext cx="37961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dirty="0">
                <a:latin typeface="Kanit" pitchFamily="2" charset="-34"/>
                <a:cs typeface="Kanit" pitchFamily="2" charset="-34"/>
              </a:rPr>
              <a:t>เช่น</a:t>
            </a:r>
            <a:r>
              <a:rPr lang="en-US" sz="3200" dirty="0">
                <a:latin typeface="Kanit" pitchFamily="2" charset="-34"/>
                <a:cs typeface="Kanit" pitchFamily="2" charset="-34"/>
              </a:rPr>
              <a:t> </a:t>
            </a:r>
            <a:r>
              <a:rPr lang="th-TH" sz="3200" dirty="0">
                <a:latin typeface="Kanit" pitchFamily="2" charset="-34"/>
                <a:cs typeface="Kanit" pitchFamily="2" charset="-34"/>
              </a:rPr>
              <a:t>การบันทึกข้อมูลการสัมภาษณ์</a:t>
            </a:r>
            <a:endParaRPr lang="en-US" sz="32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0009126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65" y="716010"/>
            <a:ext cx="11029616" cy="1013800"/>
          </a:xfrm>
        </p:spPr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ชนิดของแบบจำลอง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75158" y="1731813"/>
            <a:ext cx="10918080" cy="180109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th-TH" sz="33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3. แบบจำลองแผนภาพ</a:t>
            </a:r>
          </a:p>
          <a:p>
            <a:pPr marL="594000" lvl="2" indent="0">
              <a:lnSpc>
                <a:spcPct val="150000"/>
              </a:lnSpc>
              <a:buNone/>
            </a:pPr>
            <a:endParaRPr lang="th-TH" sz="2900" dirty="0">
              <a:solidFill>
                <a:schemeClr val="tx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63783" y="2660681"/>
            <a:ext cx="10516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>
                <a:latin typeface="Kanit" pitchFamily="2" charset="-34"/>
                <a:cs typeface="Kanit" pitchFamily="2" charset="-34"/>
              </a:rPr>
              <a:t>เป็นแบบจำลองที่มีประโยชน์มากที่สุดสำหรับงานพัฒนาระบบ	</a:t>
            </a:r>
          </a:p>
        </p:txBody>
      </p:sp>
      <p:pic>
        <p:nvPicPr>
          <p:cNvPr id="7" name="Picture 2" descr="à¸à¸¥à¸à¸²à¸£à¸à¹à¸à¸«à¸²à¸£à¸¹à¸à¸ à¸²à¸à¸ªà¸³à¸«à¸£à¸±à¸ à¹à¸à¸à¸à¸³à¸¥à¸­à¸à¹à¸à¸à¸ à¸²à¸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63" y="3106906"/>
            <a:ext cx="6619875" cy="36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0859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65" y="716010"/>
            <a:ext cx="11029616" cy="1013800"/>
          </a:xfrm>
        </p:spPr>
        <p:txBody>
          <a:bodyPr anchor="ctr">
            <a:normAutofit/>
          </a:bodyPr>
          <a:lstStyle/>
          <a:p>
            <a:r>
              <a:rPr lang="th-TH" sz="3200" dirty="0">
                <a:latin typeface="Kanit" pitchFamily="2" charset="-34"/>
                <a:cs typeface="Kanit" pitchFamily="2" charset="-34"/>
              </a:rPr>
              <a:t>ภาพรวมของแบบจำลองที่นำมาใช้กับงานวิเคราะห์และออกแบบ</a:t>
            </a:r>
          </a:p>
        </p:txBody>
      </p:sp>
      <p:sp>
        <p:nvSpPr>
          <p:cNvPr id="3" name="Rectangle 2"/>
          <p:cNvSpPr/>
          <p:nvPr/>
        </p:nvSpPr>
        <p:spPr>
          <a:xfrm>
            <a:off x="830923" y="1883850"/>
            <a:ext cx="1066869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4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แบบจำลองเชิงตรรกะ </a:t>
            </a:r>
            <a:r>
              <a:rPr lang="en-US" sz="24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(Logical Models)</a:t>
            </a:r>
            <a:endParaRPr lang="th-TH" sz="2400" dirty="0">
              <a:solidFill>
                <a:srgbClr val="FF0000"/>
              </a:solidFill>
              <a:latin typeface="Kanit" pitchFamily="2" charset="-34"/>
              <a:cs typeface="Kanit" pitchFamily="2" charset="-34"/>
            </a:endParaRP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Kanit" pitchFamily="2" charset="-34"/>
                <a:cs typeface="Kanit" pitchFamily="2" charset="-34"/>
              </a:rPr>
              <a:t> </a:t>
            </a:r>
            <a:r>
              <a:rPr lang="th-TH" sz="2400" dirty="0">
                <a:latin typeface="Kanit" pitchFamily="2" charset="-34"/>
                <a:cs typeface="Kanit" pitchFamily="2" charset="-34"/>
              </a:rPr>
              <a:t>ถูกสร้างขึ้นในระยะการวิเคราะห์</a:t>
            </a:r>
          </a:p>
          <a:p>
            <a:pPr lvl="1">
              <a:lnSpc>
                <a:spcPct val="150000"/>
              </a:lnSpc>
            </a:pPr>
            <a:r>
              <a:rPr lang="th-TH" sz="2400" dirty="0">
                <a:latin typeface="Kanit" pitchFamily="2" charset="-34"/>
                <a:cs typeface="Kanit" pitchFamily="2" charset="-34"/>
              </a:rPr>
              <a:t>จำลองให้เห็นว่า </a:t>
            </a:r>
            <a:r>
              <a:rPr lang="th-TH" sz="2400" i="1" dirty="0">
                <a:latin typeface="Kanit" pitchFamily="2" charset="-34"/>
                <a:cs typeface="Kanit" pitchFamily="2" charset="-34"/>
              </a:rPr>
              <a:t>“มีอะไรบ้างที่ระบบต้องทำ?” มีอะไรบ้าง </a:t>
            </a:r>
          </a:p>
          <a:p>
            <a:pPr lvl="1">
              <a:lnSpc>
                <a:spcPct val="150000"/>
              </a:lnSpc>
            </a:pPr>
            <a:r>
              <a:rPr lang="th-TH" sz="2400" i="1" dirty="0">
                <a:latin typeface="Kanit" pitchFamily="2" charset="-34"/>
                <a:cs typeface="Kanit" pitchFamily="2" charset="-34"/>
              </a:rPr>
              <a:t>เช่น </a:t>
            </a:r>
            <a:r>
              <a:rPr lang="en-US" sz="2400" i="1" dirty="0">
                <a:latin typeface="Kanit" pitchFamily="2" charset="-34"/>
                <a:cs typeface="Kanit" pitchFamily="2" charset="-34"/>
              </a:rPr>
              <a:t>DFD, E-R Diagram, Process Description, Class Diagram</a:t>
            </a:r>
            <a:endParaRPr lang="th-TH" sz="2400" i="1" dirty="0">
              <a:latin typeface="Kanit" pitchFamily="2" charset="-34"/>
              <a:cs typeface="Kanit" pitchFamily="2" charset="-34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4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แบบจำลองกายภาพ </a:t>
            </a:r>
            <a:r>
              <a:rPr lang="en-US" sz="24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(Physical Models)</a:t>
            </a:r>
            <a:endParaRPr lang="th-TH" sz="2400" dirty="0">
              <a:solidFill>
                <a:srgbClr val="FF0000"/>
              </a:solidFill>
              <a:latin typeface="Kanit" pitchFamily="2" charset="-34"/>
              <a:cs typeface="Kanit" pitchFamily="2" charset="-34"/>
            </a:endParaRPr>
          </a:p>
          <a:p>
            <a:pPr lvl="1">
              <a:lnSpc>
                <a:spcPct val="150000"/>
              </a:lnSpc>
            </a:pPr>
            <a:r>
              <a:rPr lang="th-TH" sz="2400" dirty="0">
                <a:latin typeface="Kanit" pitchFamily="2" charset="-34"/>
                <a:cs typeface="Kanit" pitchFamily="2" charset="-34"/>
              </a:rPr>
              <a:t>ถูกสร้างขึ้นในระยะการออกแบบ</a:t>
            </a:r>
          </a:p>
          <a:p>
            <a:pPr lvl="1">
              <a:lnSpc>
                <a:spcPct val="150000"/>
              </a:lnSpc>
            </a:pPr>
            <a:r>
              <a:rPr lang="th-TH" sz="2400" dirty="0">
                <a:latin typeface="Kanit" pitchFamily="2" charset="-34"/>
                <a:cs typeface="Kanit" pitchFamily="2" charset="-34"/>
              </a:rPr>
              <a:t>ทำให้เราเห็นรูปร่างหน้าตาบางส่วนของระบบ ว่าถูกสร้างขึ้นมาด้วยเทคโนโลยีใด </a:t>
            </a:r>
          </a:p>
          <a:p>
            <a:pPr lvl="1">
              <a:lnSpc>
                <a:spcPct val="150000"/>
              </a:lnSpc>
            </a:pPr>
            <a:r>
              <a:rPr lang="th-TH" sz="2400" dirty="0">
                <a:latin typeface="Kanit" pitchFamily="2" charset="-34"/>
                <a:cs typeface="Kanit" pitchFamily="2" charset="-34"/>
              </a:rPr>
              <a:t>จำลองให้เห็นว่า </a:t>
            </a:r>
            <a:r>
              <a:rPr lang="th-TH" sz="2400" i="1" dirty="0">
                <a:latin typeface="Kanit" pitchFamily="2" charset="-34"/>
                <a:cs typeface="Kanit" pitchFamily="2" charset="-34"/>
              </a:rPr>
              <a:t>“เราจะสร้างระบบให้เป็นไปตามที่ต้องการได้อย่างไร?”</a:t>
            </a:r>
          </a:p>
          <a:p>
            <a:pPr lvl="1">
              <a:lnSpc>
                <a:spcPct val="150000"/>
              </a:lnSpc>
            </a:pPr>
            <a:r>
              <a:rPr lang="th-TH" sz="2400" i="1" dirty="0">
                <a:latin typeface="Kanit" pitchFamily="2" charset="-34"/>
                <a:cs typeface="Kanit" pitchFamily="2" charset="-34"/>
              </a:rPr>
              <a:t>เช่น </a:t>
            </a:r>
            <a:r>
              <a:rPr lang="en-US" sz="2400" i="1" dirty="0">
                <a:latin typeface="Kanit" pitchFamily="2" charset="-34"/>
                <a:cs typeface="Kanit" pitchFamily="2" charset="-34"/>
              </a:rPr>
              <a:t>Screen layout, Report Layout, Structure Chart, Network Diagram, UX,UI </a:t>
            </a:r>
            <a:endParaRPr lang="th-TH" sz="2400" i="1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2230319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65" y="716010"/>
            <a:ext cx="11029616" cy="1013800"/>
          </a:xfrm>
        </p:spPr>
        <p:txBody>
          <a:bodyPr anchor="ctr">
            <a:normAutofit/>
          </a:bodyPr>
          <a:lstStyle/>
          <a:p>
            <a:r>
              <a:rPr lang="th-TH" sz="3200" dirty="0">
                <a:latin typeface="Kanit" pitchFamily="2" charset="-34"/>
                <a:cs typeface="Kanit" pitchFamily="2" charset="-34"/>
              </a:rPr>
              <a:t>ภาพรวมของแบบจำลองที่นำมาใช้กับงานวิเคราะห์และออกแบบ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998226" y="2237740"/>
            <a:ext cx="1068185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dirty="0">
                <a:latin typeface="Kanit" pitchFamily="2" charset="-34"/>
                <a:cs typeface="Kanit" pitchFamily="2" charset="-34"/>
              </a:rPr>
              <a:t>แบบจำลองไม่ขึ้นกับเทคโนโลยีใดๆ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dirty="0">
                <a:latin typeface="Kanit" pitchFamily="2" charset="-34"/>
                <a:cs typeface="Kanit" pitchFamily="2" charset="-34"/>
              </a:rPr>
              <a:t>บางแบบจำลองถูกนำไปใช้ทั้งในระยะการวิเคราะห์และออกแบบ</a:t>
            </a:r>
          </a:p>
        </p:txBody>
      </p:sp>
    </p:spTree>
    <p:extLst>
      <p:ext uri="{BB962C8B-B14F-4D97-AF65-F5344CB8AC3E}">
        <p14:creationId xmlns:p14="http://schemas.microsoft.com/office/powerpoint/2010/main" val="237248731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65" y="716010"/>
            <a:ext cx="11029616" cy="1013800"/>
          </a:xfrm>
        </p:spPr>
        <p:txBody>
          <a:bodyPr anchor="ctr">
            <a:normAutofit/>
          </a:bodyPr>
          <a:lstStyle/>
          <a:p>
            <a:r>
              <a:rPr lang="th-TH" sz="3200" dirty="0">
                <a:latin typeface="Kanit" pitchFamily="2" charset="-34"/>
                <a:cs typeface="Kanit" pitchFamily="2" charset="-34"/>
              </a:rPr>
              <a:t>แบบจำลองกระบวนการ (</a:t>
            </a:r>
            <a:r>
              <a:rPr lang="en-US" sz="3200" dirty="0">
                <a:latin typeface="Kanit" pitchFamily="2" charset="-34"/>
                <a:cs typeface="Kanit" pitchFamily="2" charset="-34"/>
              </a:rPr>
              <a:t>Process Model)</a:t>
            </a:r>
            <a:endParaRPr lang="th-TH" sz="3200" dirty="0">
              <a:latin typeface="Kanit" pitchFamily="2" charset="-34"/>
              <a:cs typeface="Kanit" pitchFamily="2" charset="-34"/>
            </a:endParaRP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1963961" y="3167236"/>
            <a:ext cx="8402623" cy="2967820"/>
            <a:chOff x="754" y="2069"/>
            <a:chExt cx="4309" cy="1516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2154" y="2334"/>
              <a:ext cx="1270" cy="61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18900000" algn="ctr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br>
                <a:rPr kumimoji="0" lang="en-US" sz="2400" b="1" dirty="0">
                  <a:latin typeface="Kanit" pitchFamily="2" charset="-34"/>
                  <a:cs typeface="Kanit" pitchFamily="2" charset="-34"/>
                </a:rPr>
              </a:br>
              <a:r>
                <a:rPr kumimoji="0" lang="en-US" sz="2400" b="1" dirty="0">
                  <a:latin typeface="Kanit" pitchFamily="2" charset="-34"/>
                  <a:cs typeface="Kanit" pitchFamily="2" charset="-34"/>
                </a:rPr>
                <a:t>Analysis</a:t>
              </a:r>
              <a:endParaRPr kumimoji="0" lang="th-TH" sz="2400" b="1" dirty="0">
                <a:latin typeface="Kanit" pitchFamily="2" charset="-34"/>
                <a:cs typeface="Kanit" pitchFamily="2" charset="-34"/>
              </a:endParaRPr>
            </a:p>
            <a:p>
              <a:pPr>
                <a:defRPr/>
              </a:pPr>
              <a:endParaRPr kumimoji="0" lang="th-TH" sz="2400" b="1" dirty="0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754" y="3158"/>
              <a:ext cx="1086" cy="4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sz="2400" dirty="0">
                  <a:latin typeface="Kanit" pitchFamily="2" charset="-34"/>
                  <a:cs typeface="Kanit" pitchFamily="2" charset="-34"/>
                </a:rPr>
                <a:t>Requirements</a:t>
              </a:r>
              <a:br>
                <a:rPr kumimoji="0" lang="en-US" sz="2400" dirty="0">
                  <a:latin typeface="Kanit" pitchFamily="2" charset="-34"/>
                  <a:cs typeface="Kanit" pitchFamily="2" charset="-34"/>
                </a:rPr>
              </a:br>
              <a:r>
                <a:rPr kumimoji="0" lang="en-US" sz="2400" dirty="0">
                  <a:latin typeface="Kanit" pitchFamily="2" charset="-34"/>
                  <a:cs typeface="Kanit" pitchFamily="2" charset="-34"/>
                </a:rPr>
                <a:t> Specification</a:t>
              </a:r>
              <a:endParaRPr kumimoji="0" lang="th-TH" sz="2400" dirty="0">
                <a:latin typeface="Kanit" pitchFamily="2" charset="-34"/>
                <a:cs typeface="Kanit" pitchFamily="2" charset="-34"/>
              </a:endParaRPr>
            </a:p>
          </p:txBody>
        </p:sp>
        <p:grpSp>
          <p:nvGrpSpPr>
            <p:cNvPr id="8" name="Group 7"/>
            <p:cNvGrpSpPr>
              <a:grpSpLocks/>
            </p:cNvGrpSpPr>
            <p:nvPr/>
          </p:nvGrpSpPr>
          <p:grpSpPr bwMode="auto">
            <a:xfrm>
              <a:off x="975" y="2251"/>
              <a:ext cx="680" cy="817"/>
              <a:chOff x="4150" y="2613"/>
              <a:chExt cx="680" cy="817"/>
            </a:xfrm>
          </p:grpSpPr>
          <p:sp>
            <p:nvSpPr>
              <p:cNvPr id="30" name="AutoShape 8"/>
              <p:cNvSpPr>
                <a:spLocks noChangeArrowheads="1"/>
              </p:cNvSpPr>
              <p:nvPr/>
            </p:nvSpPr>
            <p:spPr bwMode="auto">
              <a:xfrm>
                <a:off x="4150" y="2613"/>
                <a:ext cx="680" cy="817"/>
              </a:xfrm>
              <a:prstGeom prst="foldedCorner">
                <a:avLst>
                  <a:gd name="adj" fmla="val 125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kumimoji="0"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31" name="Text Box 9"/>
              <p:cNvSpPr txBox="1">
                <a:spLocks noChangeArrowheads="1"/>
              </p:cNvSpPr>
              <p:nvPr/>
            </p:nvSpPr>
            <p:spPr bwMode="auto">
              <a:xfrm>
                <a:off x="4183" y="2623"/>
                <a:ext cx="484" cy="6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0" lang="en-US" sz="2400" dirty="0">
                    <a:latin typeface="Kanit" pitchFamily="2" charset="-34"/>
                    <a:cs typeface="Kanit" pitchFamily="2" charset="-34"/>
                  </a:rPr>
                  <a:t>………….</a:t>
                </a:r>
                <a:br>
                  <a:rPr kumimoji="0" lang="en-US" sz="2400" dirty="0">
                    <a:latin typeface="Kanit" pitchFamily="2" charset="-34"/>
                    <a:cs typeface="Kanit" pitchFamily="2" charset="-34"/>
                  </a:rPr>
                </a:br>
                <a:r>
                  <a:rPr kumimoji="0" lang="en-US" sz="2400" dirty="0">
                    <a:latin typeface="Kanit" pitchFamily="2" charset="-34"/>
                    <a:cs typeface="Kanit" pitchFamily="2" charset="-34"/>
                  </a:rPr>
                  <a:t>………….</a:t>
                </a:r>
                <a:br>
                  <a:rPr kumimoji="0" lang="en-US" sz="2400" dirty="0">
                    <a:latin typeface="Kanit" pitchFamily="2" charset="-34"/>
                    <a:cs typeface="Kanit" pitchFamily="2" charset="-34"/>
                  </a:rPr>
                </a:br>
                <a:r>
                  <a:rPr kumimoji="0" lang="en-US" sz="2400" dirty="0">
                    <a:latin typeface="Kanit" pitchFamily="2" charset="-34"/>
                    <a:cs typeface="Kanit" pitchFamily="2" charset="-34"/>
                  </a:rPr>
                  <a:t>………….</a:t>
                </a:r>
                <a:endParaRPr kumimoji="0"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</p:grpSp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3424" y="2614"/>
              <a:ext cx="5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th-TH" sz="2400" dirty="0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1655" y="2659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th-TH" sz="2400" dirty="0">
                <a:latin typeface="Kanit" pitchFamily="2" charset="-34"/>
                <a:cs typeface="Kanit" pitchFamily="2" charset="-34"/>
              </a:endParaRPr>
            </a:p>
          </p:txBody>
        </p:sp>
        <p:grpSp>
          <p:nvGrpSpPr>
            <p:cNvPr id="11" name="Group 12"/>
            <p:cNvGrpSpPr>
              <a:grpSpLocks/>
            </p:cNvGrpSpPr>
            <p:nvPr/>
          </p:nvGrpSpPr>
          <p:grpSpPr bwMode="auto">
            <a:xfrm>
              <a:off x="4014" y="2069"/>
              <a:ext cx="998" cy="1134"/>
              <a:chOff x="4014" y="2069"/>
              <a:chExt cx="998" cy="1134"/>
            </a:xfrm>
          </p:grpSpPr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4014" y="2069"/>
                <a:ext cx="998" cy="113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14" name="Rectangle 14"/>
              <p:cNvSpPr>
                <a:spLocks noChangeArrowheads="1"/>
              </p:cNvSpPr>
              <p:nvPr/>
            </p:nvSpPr>
            <p:spPr bwMode="auto">
              <a:xfrm>
                <a:off x="4195" y="2160"/>
                <a:ext cx="137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15" name="Rectangle 15"/>
              <p:cNvSpPr>
                <a:spLocks noChangeArrowheads="1"/>
              </p:cNvSpPr>
              <p:nvPr/>
            </p:nvSpPr>
            <p:spPr bwMode="auto">
              <a:xfrm>
                <a:off x="4332" y="2704"/>
                <a:ext cx="137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16" name="Rectangle 16"/>
              <p:cNvSpPr>
                <a:spLocks noChangeArrowheads="1"/>
              </p:cNvSpPr>
              <p:nvPr/>
            </p:nvSpPr>
            <p:spPr bwMode="auto">
              <a:xfrm>
                <a:off x="4332" y="2432"/>
                <a:ext cx="137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17" name="Rectangle 17"/>
              <p:cNvSpPr>
                <a:spLocks noChangeArrowheads="1"/>
              </p:cNvSpPr>
              <p:nvPr/>
            </p:nvSpPr>
            <p:spPr bwMode="auto">
              <a:xfrm>
                <a:off x="4105" y="2704"/>
                <a:ext cx="137" cy="18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18" name="Line 18"/>
              <p:cNvSpPr>
                <a:spLocks noChangeShapeType="1"/>
              </p:cNvSpPr>
              <p:nvPr/>
            </p:nvSpPr>
            <p:spPr bwMode="auto">
              <a:xfrm>
                <a:off x="4241" y="2341"/>
                <a:ext cx="0" cy="1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19" name="Line 19"/>
              <p:cNvSpPr>
                <a:spLocks noChangeShapeType="1"/>
              </p:cNvSpPr>
              <p:nvPr/>
            </p:nvSpPr>
            <p:spPr bwMode="auto">
              <a:xfrm>
                <a:off x="4241" y="2478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20" name="Line 20"/>
              <p:cNvSpPr>
                <a:spLocks noChangeShapeType="1"/>
              </p:cNvSpPr>
              <p:nvPr/>
            </p:nvSpPr>
            <p:spPr bwMode="auto">
              <a:xfrm flipH="1">
                <a:off x="4150" y="2478"/>
                <a:ext cx="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4150" y="2478"/>
                <a:ext cx="0" cy="2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22" name="Line 22"/>
              <p:cNvSpPr>
                <a:spLocks noChangeShapeType="1"/>
              </p:cNvSpPr>
              <p:nvPr/>
            </p:nvSpPr>
            <p:spPr bwMode="auto">
              <a:xfrm>
                <a:off x="4422" y="2614"/>
                <a:ext cx="0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23" name="Rectangle 23"/>
              <p:cNvSpPr>
                <a:spLocks noChangeArrowheads="1"/>
              </p:cNvSpPr>
              <p:nvPr/>
            </p:nvSpPr>
            <p:spPr bwMode="auto">
              <a:xfrm>
                <a:off x="4604" y="2160"/>
                <a:ext cx="226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24" name="Rectangle 24"/>
              <p:cNvSpPr>
                <a:spLocks noChangeArrowheads="1"/>
              </p:cNvSpPr>
              <p:nvPr/>
            </p:nvSpPr>
            <p:spPr bwMode="auto">
              <a:xfrm>
                <a:off x="4604" y="2160"/>
                <a:ext cx="226" cy="4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25" name="Rectangle 25"/>
              <p:cNvSpPr>
                <a:spLocks noChangeArrowheads="1"/>
              </p:cNvSpPr>
              <p:nvPr/>
            </p:nvSpPr>
            <p:spPr bwMode="auto">
              <a:xfrm>
                <a:off x="4604" y="2568"/>
                <a:ext cx="226" cy="2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26" name="Rectangle 26"/>
              <p:cNvSpPr>
                <a:spLocks noChangeArrowheads="1"/>
              </p:cNvSpPr>
              <p:nvPr/>
            </p:nvSpPr>
            <p:spPr bwMode="auto">
              <a:xfrm>
                <a:off x="4604" y="2568"/>
                <a:ext cx="226" cy="4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27" name="Line 27"/>
              <p:cNvSpPr>
                <a:spLocks noChangeShapeType="1"/>
              </p:cNvSpPr>
              <p:nvPr/>
            </p:nvSpPr>
            <p:spPr bwMode="auto">
              <a:xfrm>
                <a:off x="4830" y="2251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28" name="Line 28"/>
              <p:cNvSpPr>
                <a:spLocks noChangeShapeType="1"/>
              </p:cNvSpPr>
              <p:nvPr/>
            </p:nvSpPr>
            <p:spPr bwMode="auto">
              <a:xfrm>
                <a:off x="4967" y="2251"/>
                <a:ext cx="0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29" name="Line 29"/>
              <p:cNvSpPr>
                <a:spLocks noChangeShapeType="1"/>
              </p:cNvSpPr>
              <p:nvPr/>
            </p:nvSpPr>
            <p:spPr bwMode="auto">
              <a:xfrm flipH="1">
                <a:off x="4830" y="2750"/>
                <a:ext cx="13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th-TH" sz="2400" dirty="0">
                  <a:latin typeface="Kanit" pitchFamily="2" charset="-34"/>
                  <a:cs typeface="Kanit" pitchFamily="2" charset="-34"/>
                </a:endParaRPr>
              </a:p>
            </p:txBody>
          </p:sp>
        </p:grpSp>
        <p:sp>
          <p:nvSpPr>
            <p:cNvPr id="12" name="Rectangle 30"/>
            <p:cNvSpPr>
              <a:spLocks noChangeArrowheads="1"/>
            </p:cNvSpPr>
            <p:nvPr/>
          </p:nvSpPr>
          <p:spPr bwMode="auto">
            <a:xfrm>
              <a:off x="3987" y="3349"/>
              <a:ext cx="1076" cy="2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sz="2400" dirty="0">
                  <a:latin typeface="Kanit" pitchFamily="2" charset="-34"/>
                  <a:cs typeface="Kanit" pitchFamily="2" charset="-34"/>
                </a:rPr>
                <a:t>Logical Model</a:t>
              </a:r>
              <a:endParaRPr kumimoji="0" lang="th-TH" sz="2400" dirty="0">
                <a:latin typeface="Kanit" pitchFamily="2" charset="-34"/>
                <a:cs typeface="Kanit" pitchFamily="2" charset="-34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054739" y="2013028"/>
            <a:ext cx="1079814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เป็นแผนภาพที่นำมาใช้แทนฟังก์ชันการทำงาน เกี่ยวข้องกับกระบวนการโดยการจับใจความสำคัญในเรื่อง</a:t>
            </a:r>
          </a:p>
          <a:p>
            <a:r>
              <a:rPr lang="th-TH" dirty="0"/>
              <a:t>การจัดการ การจัดเก็บ และการกระจายข้อมูลระหว่างระบบกับสภาพแวดล้อม รวมถึงองค์ประกอบภายในระบบ</a:t>
            </a:r>
          </a:p>
          <a:p>
            <a:r>
              <a:rPr lang="th-TH" dirty="0"/>
              <a:t>ซึ่งจะอธิบายในส่วนของแผนภาพกระแสข้อมูล </a:t>
            </a:r>
            <a:r>
              <a:rPr lang="en-US" dirty="0"/>
              <a:t>(DFD)</a:t>
            </a:r>
            <a:r>
              <a:rPr lang="th-TH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7005" y="6265102"/>
            <a:ext cx="5295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000" dirty="0"/>
              <a:t>การนำข้อกำหนดความต้องการมาวิเคราะห์ เพื่อสร้างแบบจำลองเชิงตรรกะ</a:t>
            </a:r>
          </a:p>
        </p:txBody>
      </p:sp>
    </p:spTree>
    <p:extLst>
      <p:ext uri="{BB962C8B-B14F-4D97-AF65-F5344CB8AC3E}">
        <p14:creationId xmlns:p14="http://schemas.microsoft.com/office/powerpoint/2010/main" val="2051690611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Any questions?</a:t>
            </a:r>
            <a:endParaRPr lang="th-TH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215829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แผนภาพกระแสข้อมูล </a:t>
            </a:r>
            <a:r>
              <a:rPr lang="en-US" dirty="0"/>
              <a:t>(Data flow diagram: </a:t>
            </a:r>
            <a:r>
              <a:rPr lang="en-US" dirty="0" err="1"/>
              <a:t>Dfd</a:t>
            </a:r>
            <a:r>
              <a:rPr lang="en-US" dirty="0"/>
              <a:t>)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th-TH" dirty="0"/>
              <a:t>เป็นแบบจำลองกระบวนการที่นำมาใช้กับการวิเคราะห์และออกแบบระบบเชิงโครงสร้าง ซึ่งจะแสดงความสัมพันธ์ระหว่าง โปรเซสกับข้อมูล เพื่อให้ทราบว่า</a:t>
            </a:r>
          </a:p>
          <a:p>
            <a:pPr lvl="1"/>
            <a:r>
              <a:rPr lang="th-TH" dirty="0"/>
              <a:t>ข้อมูลมาจากไหน</a:t>
            </a:r>
          </a:p>
          <a:p>
            <a:pPr lvl="1"/>
            <a:r>
              <a:rPr lang="th-TH" dirty="0"/>
              <a:t>ข้อมูลไปที่ใด</a:t>
            </a:r>
          </a:p>
          <a:p>
            <a:pPr lvl="1"/>
            <a:r>
              <a:rPr lang="th-TH" dirty="0"/>
              <a:t>ข้อมูลเก็บไว้ที่ไหน</a:t>
            </a:r>
          </a:p>
          <a:p>
            <a:pPr lvl="1"/>
            <a:r>
              <a:rPr lang="th-TH" dirty="0"/>
              <a:t>มีกระบวนการอะไรบ้าง ที่เกิดขึ้นในระบบ</a:t>
            </a:r>
          </a:p>
          <a:p>
            <a:pPr lvl="1"/>
            <a:endParaRPr lang="th-T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2233" t="41905" r="30535" b="6190"/>
          <a:stretch/>
        </p:blipFill>
        <p:spPr>
          <a:xfrm>
            <a:off x="6303851" y="3008376"/>
            <a:ext cx="4717281" cy="369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63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ขั้นตอนการสร้างแผนภาพกระแสข้อมูล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th-TH" dirty="0"/>
              <a:t>ศึกษารูปแบบการทำงานของระบบเดิม ว่ามีลักษณะการทำงานจริง ๆ อย่างไร และสร้าง </a:t>
            </a:r>
            <a:r>
              <a:rPr lang="en-US" dirty="0"/>
              <a:t>Physical-DFD </a:t>
            </a:r>
            <a:r>
              <a:rPr lang="th-TH" dirty="0"/>
              <a:t>ของระบบงานเดิมขึ้นมา</a:t>
            </a:r>
          </a:p>
          <a:p>
            <a:r>
              <a:rPr lang="th-TH" dirty="0"/>
              <a:t>ศึกษาตรรกะการทำงานของระบบงานเดิม ว่ามีอะไรบ้าง แล้วสร้าง </a:t>
            </a:r>
            <a:r>
              <a:rPr lang="en-US" dirty="0"/>
              <a:t>Logical-DFD</a:t>
            </a:r>
            <a:r>
              <a:rPr lang="th-TH" dirty="0"/>
              <a:t> ของระบบงานเดิมขึ้นมา</a:t>
            </a:r>
          </a:p>
          <a:p>
            <a:r>
              <a:rPr lang="th-TH" dirty="0"/>
              <a:t>นำความต้องการของระบบใหม่ ผนวกเพิ่มเติมเข้าไปในระบบงานใหม่แล้วสร้าง </a:t>
            </a:r>
            <a:r>
              <a:rPr lang="en-US" dirty="0"/>
              <a:t>Logical-DFD</a:t>
            </a:r>
            <a:r>
              <a:rPr lang="th-TH" dirty="0"/>
              <a:t> ของระบบงานใหม่ขึ้นมา</a:t>
            </a:r>
          </a:p>
          <a:p>
            <a:r>
              <a:rPr lang="th-TH" dirty="0"/>
              <a:t>สร้าง </a:t>
            </a:r>
            <a:r>
              <a:rPr lang="en-US" dirty="0"/>
              <a:t>Physical-DFD</a:t>
            </a:r>
            <a:r>
              <a:rPr lang="th-TH" dirty="0"/>
              <a:t> ของระบบงานใหม่ </a:t>
            </a:r>
          </a:p>
          <a:p>
            <a:pPr marL="0" indent="0">
              <a:buNone/>
            </a:pPr>
            <a:endParaRPr lang="th-TH" dirty="0"/>
          </a:p>
          <a:p>
            <a:pPr marL="0" indent="0">
              <a:buNone/>
            </a:pPr>
            <a:r>
              <a:rPr lang="th-TH" dirty="0"/>
              <a:t>	</a:t>
            </a:r>
            <a:r>
              <a:rPr lang="en-US" dirty="0"/>
              <a:t>Ex. </a:t>
            </a:r>
            <a:r>
              <a:rPr lang="th-TH" dirty="0"/>
              <a:t>สมมติว่า เราไปซื้อสินค้าที่ห้างสรรพสินค้า เมื่อเลือกซื้อสินค้าครบแล้ว จะไป </a:t>
            </a:r>
            <a:r>
              <a:rPr lang="th-TH" b="1" i="1" u="sng" dirty="0"/>
              <a:t>“ชำระเงิน” </a:t>
            </a:r>
            <a:r>
              <a:rPr lang="th-TH" dirty="0"/>
              <a:t>การชำระเงินถื่อเป็น </a:t>
            </a:r>
            <a:r>
              <a:rPr lang="en-US" dirty="0"/>
              <a:t>Logical</a:t>
            </a:r>
            <a:r>
              <a:rPr lang="th-TH" dirty="0"/>
              <a:t> ในขณะที่การชำระเงินสามารถเลือกชำระด้วยเงินสดหรือบัตรเครติด ดังนั้น หากต้องการทราบรายละเอียดเกี่ยวกับการชำระเงินว่า </a:t>
            </a:r>
            <a:r>
              <a:rPr lang="th-TH" b="1" i="1" u="sng" dirty="0"/>
              <a:t>จะชำระเงินด้วยวิธีใด </a:t>
            </a:r>
            <a:r>
              <a:rPr lang="th-TH" dirty="0"/>
              <a:t>สิ่งเหล่านี้ถือเป็น </a:t>
            </a:r>
            <a:r>
              <a:rPr lang="en-US" dirty="0"/>
              <a:t>Physical</a:t>
            </a:r>
            <a:r>
              <a:rPr lang="th-TH" dirty="0"/>
              <a:t> </a:t>
            </a:r>
          </a:p>
          <a:p>
            <a:pPr marL="0" indent="0">
              <a:buNone/>
            </a:pPr>
            <a:r>
              <a:rPr lang="th-TH" dirty="0"/>
              <a:t>	</a:t>
            </a:r>
            <a:r>
              <a:rPr lang="th-TH" sz="2800" b="1" dirty="0">
                <a:solidFill>
                  <a:srgbClr val="FF0000"/>
                </a:solidFill>
              </a:rPr>
              <a:t>สรุป</a:t>
            </a:r>
            <a:r>
              <a:rPr lang="th-TH" sz="2400" dirty="0">
                <a:solidFill>
                  <a:srgbClr val="FF0000"/>
                </a:solidFill>
              </a:rPr>
              <a:t> คือ </a:t>
            </a:r>
            <a:r>
              <a:rPr lang="en-US" sz="2400" dirty="0">
                <a:solidFill>
                  <a:srgbClr val="FF0000"/>
                </a:solidFill>
              </a:rPr>
              <a:t>Logical </a:t>
            </a:r>
            <a:r>
              <a:rPr lang="th-TH" sz="2400" dirty="0">
                <a:solidFill>
                  <a:srgbClr val="FF0000"/>
                </a:solidFill>
              </a:rPr>
              <a:t>จะไม่เน้นรายละเอียด แค่เพียงให้รู้ว่า “ทำอะไร” </a:t>
            </a:r>
            <a:r>
              <a:rPr lang="en-US" sz="2400" dirty="0">
                <a:solidFill>
                  <a:srgbClr val="FF0000"/>
                </a:solidFill>
              </a:rPr>
              <a:t>(What) </a:t>
            </a:r>
            <a:r>
              <a:rPr lang="th-TH" sz="2400" dirty="0">
                <a:solidFill>
                  <a:srgbClr val="FF0000"/>
                </a:solidFill>
              </a:rPr>
              <a:t>ก็เพียงพอ ในขณะ </a:t>
            </a:r>
            <a:r>
              <a:rPr lang="en-US" sz="2400" dirty="0">
                <a:solidFill>
                  <a:srgbClr val="FF0000"/>
                </a:solidFill>
              </a:rPr>
              <a:t>Physical</a:t>
            </a:r>
            <a:r>
              <a:rPr lang="th-TH" sz="2400" dirty="0">
                <a:solidFill>
                  <a:srgbClr val="FF0000"/>
                </a:solidFill>
              </a:rPr>
              <a:t> จะเน้นรายละเอียดว่า “ทำอย่างไร” </a:t>
            </a:r>
            <a:r>
              <a:rPr lang="en-US" sz="2400" dirty="0">
                <a:solidFill>
                  <a:srgbClr val="FF0000"/>
                </a:solidFill>
              </a:rPr>
              <a:t>(How)</a:t>
            </a:r>
            <a:endParaRPr lang="th-TH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216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3200" b="1" dirty="0"/>
              <a:t>วัตถุประสงค์ของแผนภาพกระแสข้อมูล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th-TH" sz="2800" dirty="0"/>
              <a:t>เป็นแผนภาพเพื่อสรุปภาพรวมของระบบ ตามแนวทางการวิเคราะห์เชิงโครงสร้าง</a:t>
            </a:r>
          </a:p>
          <a:p>
            <a:r>
              <a:rPr lang="th-TH" sz="2800" dirty="0"/>
              <a:t>เป็นข้อตกลงร่วมกันระหว่างนักวิเคราะห์ระบบกับผู้ใช้งาน</a:t>
            </a:r>
          </a:p>
          <a:p>
            <a:r>
              <a:rPr lang="th-TH" sz="2800" dirty="0"/>
              <a:t>เป็นแผนภาพที่นำไปใช้ประโยชน์ต่อไปในขั้นตอนการออกแบบระบบ</a:t>
            </a:r>
          </a:p>
          <a:p>
            <a:r>
              <a:rPr lang="th-TH" sz="2800" dirty="0"/>
              <a:t>เป็นแผนภาพที่ใช้อ้างอิง หรือเพื่อการปรับปรุง/พัฒนาระบบในอนาคต</a:t>
            </a:r>
          </a:p>
          <a:p>
            <a:r>
              <a:rPr lang="th-TH" sz="2800" dirty="0"/>
              <a:t>ททราบที่มาและที่ไปของข้อมูลที่ไหลไปยังกระบวนการต่าง ๆ </a:t>
            </a:r>
          </a:p>
        </p:txBody>
      </p:sp>
    </p:spTree>
    <p:extLst>
      <p:ext uri="{BB962C8B-B14F-4D97-AF65-F5344CB8AC3E}">
        <p14:creationId xmlns:p14="http://schemas.microsoft.com/office/powerpoint/2010/main" val="3958485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3200" dirty="0"/>
              <a:t>สัญลักษณ์แผนภาพกระแสข้อมูล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81025" y="2039710"/>
          <a:ext cx="11029950" cy="472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8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9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2800" dirty="0">
                          <a:cs typeface="+mj-cs"/>
                        </a:rPr>
                        <a:t>สัญลักษณ์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cs typeface="+mj-cs"/>
                        </a:rPr>
                        <a:t>DeMarco</a:t>
                      </a:r>
                      <a:r>
                        <a:rPr lang="en-US" sz="2800" baseline="0" dirty="0">
                          <a:cs typeface="+mj-cs"/>
                        </a:rPr>
                        <a:t> &amp; Yourdon</a:t>
                      </a:r>
                      <a:endParaRPr lang="th-TH" sz="2800" dirty="0"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cs typeface="+mj-cs"/>
                        </a:rPr>
                        <a:t>Gane&amp;Sarson</a:t>
                      </a:r>
                      <a:endParaRPr lang="th-TH" sz="2800" dirty="0"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2758">
                <a:tc>
                  <a:txBody>
                    <a:bodyPr/>
                    <a:lstStyle/>
                    <a:p>
                      <a:r>
                        <a:rPr lang="th-TH" sz="1800" dirty="0"/>
                        <a:t>กระบวนการทำงาน 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th-TH" dirty="0"/>
                    </a:p>
                    <a:p>
                      <a:endParaRPr lang="th-TH" dirty="0"/>
                    </a:p>
                    <a:p>
                      <a:endParaRPr lang="th-TH" dirty="0"/>
                    </a:p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th-TH" dirty="0"/>
                    </a:p>
                    <a:p>
                      <a:endParaRPr lang="th-TH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th-TH" dirty="0"/>
                    </a:p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6632">
                <a:tc>
                  <a:txBody>
                    <a:bodyPr/>
                    <a:lstStyle/>
                    <a:p>
                      <a:r>
                        <a:rPr lang="th-TH" sz="1800" dirty="0"/>
                        <a:t>เอนทิตีภายนอก 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th-TH" dirty="0"/>
                    </a:p>
                    <a:p>
                      <a:endParaRPr lang="th-TH" dirty="0"/>
                    </a:p>
                    <a:p>
                      <a:endParaRPr lang="th-TH" dirty="0"/>
                    </a:p>
                    <a:p>
                      <a:endParaRPr lang="th-TH" dirty="0"/>
                    </a:p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306">
                <a:tc>
                  <a:txBody>
                    <a:bodyPr/>
                    <a:lstStyle/>
                    <a:p>
                      <a:r>
                        <a:rPr lang="th-TH" sz="1800" dirty="0"/>
                        <a:t>กระแสข้อมูล 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th-TH" dirty="0"/>
                    </a:p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1800" dirty="0"/>
                        <a:t>แหล่งจัดเก็บข้อมูล 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th-TH" dirty="0"/>
                    </a:p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4724400" y="2764972"/>
            <a:ext cx="1055914" cy="990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59086" y="4296889"/>
            <a:ext cx="1208314" cy="9252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60971" y="4286779"/>
            <a:ext cx="1208314" cy="9252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659086" y="5853697"/>
            <a:ext cx="1186542" cy="108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8605157" y="5909961"/>
            <a:ext cx="1186542" cy="108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724400" y="6237514"/>
            <a:ext cx="120831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724400" y="6618514"/>
            <a:ext cx="120831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8262257" y="6237514"/>
            <a:ext cx="1807028" cy="391886"/>
            <a:chOff x="8262257" y="6237514"/>
            <a:chExt cx="1807028" cy="391886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8860971" y="6237514"/>
              <a:ext cx="120831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860971" y="6618514"/>
              <a:ext cx="120831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8262257" y="6248400"/>
              <a:ext cx="598714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th-TH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Cordia New" panose="020B0304020202020204" pitchFamily="34" charset="-34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161723" y="2690559"/>
            <a:ext cx="2232236" cy="1094267"/>
            <a:chOff x="1115616" y="1844824"/>
            <a:chExt cx="1296144" cy="864096"/>
          </a:xfrm>
        </p:grpSpPr>
        <p:sp>
          <p:nvSpPr>
            <p:cNvPr id="20" name="Rounded Rectangle 19"/>
            <p:cNvSpPr/>
            <p:nvPr/>
          </p:nvSpPr>
          <p:spPr>
            <a:xfrm>
              <a:off x="1115616" y="1844824"/>
              <a:ext cx="1296144" cy="86409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1115616" y="2060848"/>
              <a:ext cx="1296144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6938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สัญลักษณ์แผนภาพกระแสข้อมูล </a:t>
            </a:r>
            <a:r>
              <a:rPr lang="en-US" dirty="0"/>
              <a:t>DeMarco &amp; Yourdon</a:t>
            </a:r>
            <a:endParaRPr lang="th-TH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0511910"/>
              </p:ext>
            </p:extLst>
          </p:nvPr>
        </p:nvGraphicFramePr>
        <p:xfrm>
          <a:off x="1294703" y="1932830"/>
          <a:ext cx="7060746" cy="47281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8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2159">
                <a:tc>
                  <a:txBody>
                    <a:bodyPr/>
                    <a:lstStyle/>
                    <a:p>
                      <a:pPr algn="ctr"/>
                      <a:r>
                        <a:rPr lang="th-TH" sz="2800" dirty="0">
                          <a:cs typeface="+mj-cs"/>
                        </a:rPr>
                        <a:t>สัญลักษณ์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cs typeface="+mj-cs"/>
                        </a:rPr>
                        <a:t>DeMarco</a:t>
                      </a:r>
                      <a:r>
                        <a:rPr lang="en-US" sz="2800" baseline="0" dirty="0">
                          <a:cs typeface="+mj-cs"/>
                        </a:rPr>
                        <a:t> &amp; Yourdon</a:t>
                      </a:r>
                      <a:endParaRPr lang="th-TH" sz="2800" dirty="0">
                        <a:cs typeface="+mj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2758">
                <a:tc>
                  <a:txBody>
                    <a:bodyPr/>
                    <a:lstStyle/>
                    <a:p>
                      <a:r>
                        <a:rPr lang="th-TH" sz="1800" dirty="0"/>
                        <a:t>กระบวนการทำงาน 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th-TH" dirty="0"/>
                    </a:p>
                    <a:p>
                      <a:endParaRPr lang="th-TH" dirty="0"/>
                    </a:p>
                    <a:p>
                      <a:endParaRPr lang="th-TH" dirty="0"/>
                    </a:p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6632">
                <a:tc>
                  <a:txBody>
                    <a:bodyPr/>
                    <a:lstStyle/>
                    <a:p>
                      <a:r>
                        <a:rPr lang="th-TH" sz="1800" dirty="0"/>
                        <a:t>เอนทิตีภายนอก 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th-TH" dirty="0"/>
                    </a:p>
                    <a:p>
                      <a:endParaRPr lang="th-TH" dirty="0"/>
                    </a:p>
                    <a:p>
                      <a:endParaRPr lang="th-TH" dirty="0"/>
                    </a:p>
                    <a:p>
                      <a:endParaRPr lang="th-TH" dirty="0"/>
                    </a:p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306">
                <a:tc>
                  <a:txBody>
                    <a:bodyPr/>
                    <a:lstStyle/>
                    <a:p>
                      <a:r>
                        <a:rPr lang="th-TH" sz="1800" dirty="0"/>
                        <a:t>กระแสข้อมูล 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th-TH" dirty="0"/>
                    </a:p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1800" dirty="0"/>
                        <a:t>แหล่งจัดเก็บข้อมูล 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th-TH" dirty="0"/>
                    </a:p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5404757" y="2851281"/>
            <a:ext cx="1055914" cy="990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16286" y="4174480"/>
            <a:ext cx="1208314" cy="9252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Cordia New" panose="020B0304020202020204" pitchFamily="34" charset="-34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116286" y="5651353"/>
            <a:ext cx="1186542" cy="108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992294" y="6170607"/>
            <a:ext cx="120831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992294" y="6484700"/>
            <a:ext cx="120831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6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สัญลักษณ์แผนภาพกระแสข้อมูล </a:t>
            </a:r>
            <a:r>
              <a:rPr lang="en-US" dirty="0" err="1"/>
              <a:t>DeMarco</a:t>
            </a:r>
            <a:r>
              <a:rPr lang="en-US" dirty="0"/>
              <a:t> &amp; Yourdon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th-TH" dirty="0"/>
              <a:t>โปรเซส </a:t>
            </a:r>
            <a:r>
              <a:rPr lang="en-US" dirty="0"/>
              <a:t>(Process) </a:t>
            </a:r>
            <a:r>
              <a:rPr lang="th-TH" dirty="0"/>
              <a:t>เป็นสัญลักษณ์ใช้แทนกิจกรรมที่เกิดขึ้นในระบบ หรือกระบวนการที่ต้องทำในระบบ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353312" y="3164683"/>
            <a:ext cx="2048256" cy="1709928"/>
            <a:chOff x="1353312" y="3164683"/>
            <a:chExt cx="2048256" cy="1709928"/>
          </a:xfrm>
        </p:grpSpPr>
        <p:sp>
          <p:nvSpPr>
            <p:cNvPr id="4" name="Oval 3"/>
            <p:cNvSpPr/>
            <p:nvPr/>
          </p:nvSpPr>
          <p:spPr>
            <a:xfrm>
              <a:off x="1353312" y="3164683"/>
              <a:ext cx="2048256" cy="1709928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>
                <a:solidFill>
                  <a:schemeClr val="tx1"/>
                </a:solidFill>
              </a:endParaRPr>
            </a:p>
            <a:p>
              <a:pPr algn="ctr"/>
              <a:r>
                <a:rPr lang="th-TH" sz="2200" dirty="0">
                  <a:solidFill>
                    <a:schemeClr val="tx1"/>
                  </a:solidFill>
                </a:rPr>
                <a:t>ลงทะเบียนเรียน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219384" y="3164683"/>
              <a:ext cx="3161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1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193792" y="3164683"/>
            <a:ext cx="2048256" cy="1709928"/>
            <a:chOff x="1353312" y="3164683"/>
            <a:chExt cx="2048256" cy="1709928"/>
          </a:xfrm>
        </p:grpSpPr>
        <p:sp>
          <p:nvSpPr>
            <p:cNvPr id="8" name="Oval 7"/>
            <p:cNvSpPr/>
            <p:nvPr/>
          </p:nvSpPr>
          <p:spPr>
            <a:xfrm>
              <a:off x="1353312" y="3164683"/>
              <a:ext cx="2048256" cy="1709928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>
                <a:solidFill>
                  <a:schemeClr val="tx1"/>
                </a:solidFill>
              </a:endParaRPr>
            </a:p>
            <a:p>
              <a:pPr algn="ctr"/>
              <a:r>
                <a:rPr lang="th-TH" sz="2200" dirty="0">
                  <a:solidFill>
                    <a:schemeClr val="tx1"/>
                  </a:solidFill>
                </a:rPr>
                <a:t>คำนวณเกรด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19384" y="3164683"/>
              <a:ext cx="3161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2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770114" y="5396785"/>
            <a:ext cx="8207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สัญลักษณ์โปรเซสจะต้องมีหมายเลขกำกับเสมอ ซึ่งจะกำหนดเป็น 1, 2, 3 ตามลำดับ</a:t>
            </a:r>
          </a:p>
        </p:txBody>
      </p:sp>
    </p:spTree>
    <p:extLst>
      <p:ext uri="{BB962C8B-B14F-4D97-AF65-F5344CB8AC3E}">
        <p14:creationId xmlns:p14="http://schemas.microsoft.com/office/powerpoint/2010/main" val="3808679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สัญลักษณ์แผนภาพกระแสข้อมูล </a:t>
            </a:r>
            <a:r>
              <a:rPr lang="en-US" dirty="0" err="1"/>
              <a:t>DeMarco</a:t>
            </a:r>
            <a:r>
              <a:rPr lang="en-US" dirty="0"/>
              <a:t> &amp; Yourdon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th-TH" dirty="0"/>
              <a:t>ตามปกติ แผนภาพกระแสข้อมูลจะต้องมีอย่างน้อย 1 โปรเซส โดยจะมีทางผ่านข้อมูลเข้ามายงโปรเซส เรียน </a:t>
            </a:r>
            <a:r>
              <a:rPr lang="en-US" dirty="0"/>
              <a:t>Input </a:t>
            </a:r>
            <a:r>
              <a:rPr lang="th-TH" dirty="0"/>
              <a:t>และทางออกเรียก</a:t>
            </a:r>
            <a:r>
              <a:rPr lang="en-US" dirty="0"/>
              <a:t> Output</a:t>
            </a:r>
            <a:endParaRPr lang="th-TH" dirty="0"/>
          </a:p>
        </p:txBody>
      </p:sp>
      <p:grpSp>
        <p:nvGrpSpPr>
          <p:cNvPr id="7" name="Group 6"/>
          <p:cNvGrpSpPr/>
          <p:nvPr/>
        </p:nvGrpSpPr>
        <p:grpSpPr>
          <a:xfrm>
            <a:off x="3931920" y="3164683"/>
            <a:ext cx="2048256" cy="1709928"/>
            <a:chOff x="1353312" y="3164683"/>
            <a:chExt cx="2048256" cy="1709928"/>
          </a:xfrm>
        </p:grpSpPr>
        <p:sp>
          <p:nvSpPr>
            <p:cNvPr id="8" name="Oval 7"/>
            <p:cNvSpPr/>
            <p:nvPr/>
          </p:nvSpPr>
          <p:spPr>
            <a:xfrm>
              <a:off x="1353312" y="3164683"/>
              <a:ext cx="2048256" cy="1709928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dirty="0">
                <a:solidFill>
                  <a:schemeClr val="tx1"/>
                </a:solidFill>
              </a:endParaRPr>
            </a:p>
            <a:p>
              <a:pPr algn="ctr"/>
              <a:r>
                <a:rPr lang="th-TH" sz="2200" dirty="0">
                  <a:solidFill>
                    <a:schemeClr val="tx1"/>
                  </a:solidFill>
                </a:rPr>
                <a:t>คำนวณเงินเดือน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19384" y="3164683"/>
              <a:ext cx="3161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5</a:t>
              </a:r>
            </a:p>
          </p:txBody>
        </p:sp>
      </p:grpSp>
      <p:cxnSp>
        <p:nvCxnSpPr>
          <p:cNvPr id="12" name="Straight Arrow Connector 11"/>
          <p:cNvCxnSpPr>
            <a:endCxn id="8" idx="2"/>
          </p:cNvCxnSpPr>
          <p:nvPr/>
        </p:nvCxnSpPr>
        <p:spPr>
          <a:xfrm>
            <a:off x="1627632" y="4019647"/>
            <a:ext cx="230428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980176" y="4006790"/>
            <a:ext cx="230428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69049" y="3557982"/>
            <a:ext cx="26100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dirty="0"/>
              <a:t>เงินเดือน, ภาษี, ประกันสังคม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9683" y="3557982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dirty="0"/>
              <a:t>เงินเดือนสุทธิ</a:t>
            </a:r>
          </a:p>
        </p:txBody>
      </p:sp>
    </p:spTree>
    <p:extLst>
      <p:ext uri="{BB962C8B-B14F-4D97-AF65-F5344CB8AC3E}">
        <p14:creationId xmlns:p14="http://schemas.microsoft.com/office/powerpoint/2010/main" val="1543110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สัญลักษณ์แผนภาพกระแสข้อมูล </a:t>
            </a:r>
            <a:r>
              <a:rPr lang="en-US" dirty="0" err="1"/>
              <a:t>DeMarco</a:t>
            </a:r>
            <a:r>
              <a:rPr lang="en-US" dirty="0"/>
              <a:t> &amp; Yourdon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Data Flow </a:t>
            </a:r>
            <a:r>
              <a:rPr lang="th-TH" dirty="0"/>
              <a:t>คือ กระแสข้อมูล ใช้สัญลักษณ์ด้วยลูกศรที่ไปพร้อมกับข้อมูล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157376" y="2616638"/>
            <a:ext cx="9877246" cy="3706701"/>
            <a:chOff x="1017457" y="2597214"/>
            <a:chExt cx="9877246" cy="3706701"/>
          </a:xfrm>
        </p:grpSpPr>
        <p:grpSp>
          <p:nvGrpSpPr>
            <p:cNvPr id="6" name="Group 5"/>
            <p:cNvGrpSpPr/>
            <p:nvPr/>
          </p:nvGrpSpPr>
          <p:grpSpPr>
            <a:xfrm>
              <a:off x="1017457" y="3695035"/>
              <a:ext cx="9877246" cy="1709928"/>
              <a:chOff x="121345" y="3164683"/>
              <a:chExt cx="9877246" cy="1709928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3931920" y="3164683"/>
                <a:ext cx="2048256" cy="1709928"/>
                <a:chOff x="1353312" y="3164683"/>
                <a:chExt cx="2048256" cy="1709928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353312" y="3164683"/>
                  <a:ext cx="2048256" cy="1709928"/>
                </a:xfrm>
                <a:prstGeom prst="ellipse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th-TH" sz="2200" dirty="0">
                      <a:solidFill>
                        <a:schemeClr val="tx1"/>
                      </a:solidFill>
                    </a:rPr>
                    <a:t>คำนวณเงินเดือน</a:t>
                  </a:r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2219384" y="3164683"/>
                  <a:ext cx="31611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h-TH" dirty="0"/>
                    <a:t>5</a:t>
                  </a:r>
                </a:p>
              </p:txBody>
            </p:sp>
          </p:grpSp>
          <p:cxnSp>
            <p:nvCxnSpPr>
              <p:cNvPr id="12" name="Straight Arrow Connector 11"/>
              <p:cNvCxnSpPr>
                <a:endCxn id="8" idx="2"/>
              </p:cNvCxnSpPr>
              <p:nvPr/>
            </p:nvCxnSpPr>
            <p:spPr>
              <a:xfrm>
                <a:off x="1938528" y="4006790"/>
                <a:ext cx="1993392" cy="12857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>
                <a:off x="5980176" y="4006790"/>
                <a:ext cx="2304288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/>
              <p:cNvSpPr txBox="1"/>
              <p:nvPr/>
            </p:nvSpPr>
            <p:spPr>
              <a:xfrm>
                <a:off x="1832999" y="3619537"/>
                <a:ext cx="22044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sz="2000" dirty="0"/>
                  <a:t>เงินเดือน, ภาษี, ประกันสังคม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6502523" y="3549485"/>
                <a:ext cx="11031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sz="2000" dirty="0"/>
                  <a:t>เงินเดือนสุทธิ</a:t>
                </a:r>
              </a:p>
            </p:txBody>
          </p:sp>
          <p:sp>
            <p:nvSpPr>
              <p:cNvPr id="4" name="Rectangle 3"/>
              <p:cNvSpPr/>
              <p:nvPr/>
            </p:nvSpPr>
            <p:spPr>
              <a:xfrm>
                <a:off x="121345" y="3426293"/>
                <a:ext cx="1714127" cy="987552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h-TH" dirty="0">
                    <a:solidFill>
                      <a:schemeClr val="tx1"/>
                    </a:solidFill>
                  </a:rPr>
                  <a:t>แผนกการเงิน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8284464" y="3426293"/>
                <a:ext cx="1714127" cy="987552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h-TH" dirty="0">
                    <a:solidFill>
                      <a:schemeClr val="tx1"/>
                    </a:solidFill>
                  </a:rPr>
                  <a:t>พนักงาน</a:t>
                </a: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4828032" y="2597214"/>
              <a:ext cx="2570603" cy="540472"/>
              <a:chOff x="4828032" y="2597214"/>
              <a:chExt cx="2570603" cy="540472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4828032" y="2606899"/>
                <a:ext cx="749808" cy="466344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D3</a:t>
                </a:r>
                <a:endParaRPr lang="th-TH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5577840" y="2597214"/>
                <a:ext cx="1820795" cy="193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5577840" y="3072785"/>
                <a:ext cx="1820795" cy="193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5694104" y="2676021"/>
                <a:ext cx="11047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sz="2400" dirty="0"/>
                  <a:t>ตารางภาษี</a:t>
                </a:r>
              </a:p>
            </p:txBody>
          </p:sp>
        </p:grpSp>
        <p:cxnSp>
          <p:nvCxnSpPr>
            <p:cNvPr id="24" name="Straight Arrow Connector 23"/>
            <p:cNvCxnSpPr>
              <a:endCxn id="9" idx="0"/>
            </p:cNvCxnSpPr>
            <p:nvPr/>
          </p:nvCxnSpPr>
          <p:spPr>
            <a:xfrm>
              <a:off x="5852160" y="3072785"/>
              <a:ext cx="0" cy="62225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2969917" y="5763443"/>
              <a:ext cx="2151374" cy="540472"/>
              <a:chOff x="4828032" y="2597214"/>
              <a:chExt cx="2570603" cy="540472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4828032" y="2606899"/>
                <a:ext cx="749808" cy="466344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D1</a:t>
                </a:r>
                <a:endParaRPr lang="th-TH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>
                <a:off x="5577840" y="2597214"/>
                <a:ext cx="1820795" cy="193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5577840" y="3072785"/>
                <a:ext cx="1820795" cy="193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5694104" y="2676021"/>
                <a:ext cx="11047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sz="2400" dirty="0"/>
                  <a:t>ตารางภาษี</a:t>
                </a: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6616013" y="5707471"/>
              <a:ext cx="2043625" cy="540472"/>
              <a:chOff x="4828032" y="2597214"/>
              <a:chExt cx="2570603" cy="540472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4828032" y="2606899"/>
                <a:ext cx="749808" cy="466344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D2</a:t>
                </a:r>
                <a:endParaRPr lang="th-TH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2" name="Straight Connector 31"/>
              <p:cNvCxnSpPr/>
              <p:nvPr/>
            </p:nvCxnSpPr>
            <p:spPr>
              <a:xfrm>
                <a:off x="5577840" y="2597214"/>
                <a:ext cx="1820795" cy="193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5577840" y="3072785"/>
                <a:ext cx="1820795" cy="193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/>
              <p:cNvSpPr txBox="1"/>
              <p:nvPr/>
            </p:nvSpPr>
            <p:spPr>
              <a:xfrm>
                <a:off x="5694104" y="2676021"/>
                <a:ext cx="11047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sz="2400" dirty="0"/>
                  <a:t>ตารางภาษี</a:t>
                </a:r>
              </a:p>
            </p:txBody>
          </p:sp>
        </p:grpSp>
        <p:cxnSp>
          <p:nvCxnSpPr>
            <p:cNvPr id="36" name="Straight Arrow Connector 35"/>
            <p:cNvCxnSpPr/>
            <p:nvPr/>
          </p:nvCxnSpPr>
          <p:spPr>
            <a:xfrm flipV="1">
              <a:off x="4267559" y="5321808"/>
              <a:ext cx="1145689" cy="40386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endCxn id="8" idx="5"/>
            </p:cNvCxnSpPr>
            <p:nvPr/>
          </p:nvCxnSpPr>
          <p:spPr>
            <a:xfrm flipH="1" flipV="1">
              <a:off x="6576328" y="5154550"/>
              <a:ext cx="498055" cy="5436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6798894" y="4973230"/>
              <a:ext cx="732587" cy="73424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9817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สัญลักษณ์แผนภาพกระแสข้อมูล </a:t>
            </a:r>
            <a:r>
              <a:rPr lang="en-US" dirty="0" err="1"/>
              <a:t>DeMarco</a:t>
            </a:r>
            <a:r>
              <a:rPr lang="en-US" dirty="0"/>
              <a:t> &amp; Yourdon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External Entities </a:t>
            </a:r>
            <a:r>
              <a:rPr lang="th-TH" dirty="0"/>
              <a:t>สิ่งที่อยู่ภายนอกของระบบ/แหล่งที่มาของข้อมูล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017457" y="3695035"/>
            <a:ext cx="9877246" cy="1709928"/>
            <a:chOff x="121345" y="3164683"/>
            <a:chExt cx="9877246" cy="1709928"/>
          </a:xfrm>
        </p:grpSpPr>
        <p:grpSp>
          <p:nvGrpSpPr>
            <p:cNvPr id="7" name="Group 6"/>
            <p:cNvGrpSpPr/>
            <p:nvPr/>
          </p:nvGrpSpPr>
          <p:grpSpPr>
            <a:xfrm>
              <a:off x="3931920" y="3164683"/>
              <a:ext cx="2048256" cy="1709928"/>
              <a:chOff x="1353312" y="3164683"/>
              <a:chExt cx="2048256" cy="1709928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1353312" y="3164683"/>
                <a:ext cx="2048256" cy="1709928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th-TH" sz="2200" dirty="0">
                    <a:solidFill>
                      <a:schemeClr val="tx1"/>
                    </a:solidFill>
                  </a:rPr>
                  <a:t>คำนวณเงินเดือน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219384" y="3164683"/>
                <a:ext cx="31611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5</a:t>
                </a:r>
              </a:p>
            </p:txBody>
          </p:sp>
        </p:grpSp>
        <p:cxnSp>
          <p:nvCxnSpPr>
            <p:cNvPr id="12" name="Straight Arrow Connector 11"/>
            <p:cNvCxnSpPr>
              <a:endCxn id="8" idx="2"/>
            </p:cNvCxnSpPr>
            <p:nvPr/>
          </p:nvCxnSpPr>
          <p:spPr>
            <a:xfrm>
              <a:off x="1938528" y="4006790"/>
              <a:ext cx="1993392" cy="1285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980176" y="4006790"/>
              <a:ext cx="230428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832999" y="3619537"/>
              <a:ext cx="22044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2000" dirty="0"/>
                <a:t>เงินเดือน, ภาษี, ประกันสังคม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502523" y="3549485"/>
              <a:ext cx="11031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2000" dirty="0"/>
                <a:t>เงินเดือนสุทธิ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121345" y="3426293"/>
              <a:ext cx="1714127" cy="98755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แผนกการเงิน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284464" y="3426293"/>
              <a:ext cx="1714127" cy="98755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พนักงาน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28032" y="2597214"/>
            <a:ext cx="2570603" cy="540472"/>
            <a:chOff x="4828032" y="2597214"/>
            <a:chExt cx="2570603" cy="540472"/>
          </a:xfrm>
        </p:grpSpPr>
        <p:sp>
          <p:nvSpPr>
            <p:cNvPr id="10" name="Rectangle 9"/>
            <p:cNvSpPr/>
            <p:nvPr/>
          </p:nvSpPr>
          <p:spPr>
            <a:xfrm>
              <a:off x="4828032" y="2606899"/>
              <a:ext cx="749808" cy="46634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D3</a:t>
              </a:r>
              <a:endParaRPr lang="th-TH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5577840" y="2597214"/>
              <a:ext cx="1820795" cy="19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577840" y="3072785"/>
              <a:ext cx="1820795" cy="19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5694104" y="2676021"/>
              <a:ext cx="1104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2400" dirty="0"/>
                <a:t>ตารางภาษี</a:t>
              </a:r>
            </a:p>
          </p:txBody>
        </p:sp>
      </p:grpSp>
      <p:cxnSp>
        <p:nvCxnSpPr>
          <p:cNvPr id="24" name="Straight Arrow Connector 23"/>
          <p:cNvCxnSpPr>
            <a:endCxn id="9" idx="0"/>
          </p:cNvCxnSpPr>
          <p:nvPr/>
        </p:nvCxnSpPr>
        <p:spPr>
          <a:xfrm>
            <a:off x="5852160" y="3072785"/>
            <a:ext cx="0" cy="622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2969917" y="5763443"/>
            <a:ext cx="2151374" cy="540472"/>
            <a:chOff x="4828032" y="2597214"/>
            <a:chExt cx="2570603" cy="540472"/>
          </a:xfrm>
        </p:grpSpPr>
        <p:sp>
          <p:nvSpPr>
            <p:cNvPr id="26" name="Rectangle 25"/>
            <p:cNvSpPr/>
            <p:nvPr/>
          </p:nvSpPr>
          <p:spPr>
            <a:xfrm>
              <a:off x="4828032" y="2606899"/>
              <a:ext cx="749808" cy="46634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D1</a:t>
              </a:r>
              <a:endParaRPr lang="th-TH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Straight Connector 26"/>
            <p:cNvCxnSpPr/>
            <p:nvPr/>
          </p:nvCxnSpPr>
          <p:spPr>
            <a:xfrm>
              <a:off x="5577840" y="2597214"/>
              <a:ext cx="1820795" cy="19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5577840" y="3072785"/>
              <a:ext cx="1820795" cy="19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5694104" y="2676021"/>
              <a:ext cx="1104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2400" dirty="0"/>
                <a:t>ตารางภาษี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616013" y="5707471"/>
            <a:ext cx="2043625" cy="540472"/>
            <a:chOff x="4828032" y="2597214"/>
            <a:chExt cx="2570603" cy="540472"/>
          </a:xfrm>
        </p:grpSpPr>
        <p:sp>
          <p:nvSpPr>
            <p:cNvPr id="31" name="Rectangle 30"/>
            <p:cNvSpPr/>
            <p:nvPr/>
          </p:nvSpPr>
          <p:spPr>
            <a:xfrm>
              <a:off x="4828032" y="2606899"/>
              <a:ext cx="749808" cy="46634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D2</a:t>
              </a:r>
              <a:endParaRPr lang="th-TH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5577840" y="2597214"/>
              <a:ext cx="1820795" cy="19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577840" y="3072785"/>
              <a:ext cx="1820795" cy="19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5694104" y="2676021"/>
              <a:ext cx="1104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2400" dirty="0"/>
                <a:t>ตารางภาษี</a:t>
              </a:r>
            </a:p>
          </p:txBody>
        </p:sp>
      </p:grpSp>
      <p:cxnSp>
        <p:nvCxnSpPr>
          <p:cNvPr id="36" name="Straight Arrow Connector 35"/>
          <p:cNvCxnSpPr/>
          <p:nvPr/>
        </p:nvCxnSpPr>
        <p:spPr>
          <a:xfrm flipV="1">
            <a:off x="4267559" y="5321808"/>
            <a:ext cx="1145689" cy="4038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8" idx="5"/>
          </p:cNvCxnSpPr>
          <p:nvPr/>
        </p:nvCxnSpPr>
        <p:spPr>
          <a:xfrm flipH="1" flipV="1">
            <a:off x="6576328" y="5154550"/>
            <a:ext cx="498055" cy="5436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798894" y="4973230"/>
            <a:ext cx="732587" cy="7342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56032" y="3417149"/>
            <a:ext cx="868680" cy="539496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10173936" y="3216067"/>
            <a:ext cx="811343" cy="719810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320737" y="2660533"/>
            <a:ext cx="19463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External Entities </a:t>
            </a:r>
            <a:endParaRPr lang="th-TH" sz="2000" dirty="0">
              <a:solidFill>
                <a:srgbClr val="FF000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39070" y="2836421"/>
            <a:ext cx="19463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External Entities </a:t>
            </a:r>
            <a:endParaRPr lang="th-TH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740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สัญลักษณ์แผนภาพกระแสข้อมูล </a:t>
            </a:r>
            <a:r>
              <a:rPr lang="en-US" dirty="0" err="1"/>
              <a:t>DeMarco</a:t>
            </a:r>
            <a:r>
              <a:rPr lang="en-US" dirty="0"/>
              <a:t> &amp; Yourdon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Data Stores</a:t>
            </a:r>
            <a:r>
              <a:rPr lang="th-TH" dirty="0"/>
              <a:t> แหล่งเก็บข้อมูล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017457" y="3695035"/>
            <a:ext cx="9877246" cy="1709928"/>
            <a:chOff x="121345" y="3164683"/>
            <a:chExt cx="9877246" cy="1709928"/>
          </a:xfrm>
        </p:grpSpPr>
        <p:grpSp>
          <p:nvGrpSpPr>
            <p:cNvPr id="7" name="Group 6"/>
            <p:cNvGrpSpPr/>
            <p:nvPr/>
          </p:nvGrpSpPr>
          <p:grpSpPr>
            <a:xfrm>
              <a:off x="3931920" y="3164683"/>
              <a:ext cx="2048256" cy="1709928"/>
              <a:chOff x="1353312" y="3164683"/>
              <a:chExt cx="2048256" cy="1709928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1353312" y="3164683"/>
                <a:ext cx="2048256" cy="1709928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th-TH" sz="2200" dirty="0">
                    <a:solidFill>
                      <a:schemeClr val="tx1"/>
                    </a:solidFill>
                  </a:rPr>
                  <a:t>คำนวณเงินเดือน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219384" y="3164683"/>
                <a:ext cx="31611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5</a:t>
                </a:r>
              </a:p>
            </p:txBody>
          </p:sp>
        </p:grpSp>
        <p:cxnSp>
          <p:nvCxnSpPr>
            <p:cNvPr id="12" name="Straight Arrow Connector 11"/>
            <p:cNvCxnSpPr>
              <a:endCxn id="8" idx="2"/>
            </p:cNvCxnSpPr>
            <p:nvPr/>
          </p:nvCxnSpPr>
          <p:spPr>
            <a:xfrm>
              <a:off x="1938528" y="4006790"/>
              <a:ext cx="1993392" cy="1285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980176" y="4006790"/>
              <a:ext cx="230428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832999" y="3619537"/>
              <a:ext cx="22044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2000" dirty="0"/>
                <a:t>เงินเดือน, ภาษี, ประกันสังคม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502523" y="3549485"/>
              <a:ext cx="11031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2000" dirty="0"/>
                <a:t>เงินเดือนสุทธิ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121345" y="3426293"/>
              <a:ext cx="1714127" cy="98755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แผนกการเงิน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284464" y="3426293"/>
              <a:ext cx="1714127" cy="98755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dirty="0">
                  <a:solidFill>
                    <a:schemeClr val="tx1"/>
                  </a:solidFill>
                </a:rPr>
                <a:t>พนักงาน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28032" y="2597214"/>
            <a:ext cx="2570603" cy="540472"/>
            <a:chOff x="4828032" y="2597214"/>
            <a:chExt cx="2570603" cy="540472"/>
          </a:xfrm>
        </p:grpSpPr>
        <p:sp>
          <p:nvSpPr>
            <p:cNvPr id="10" name="Rectangle 9"/>
            <p:cNvSpPr/>
            <p:nvPr/>
          </p:nvSpPr>
          <p:spPr>
            <a:xfrm>
              <a:off x="4828032" y="2606899"/>
              <a:ext cx="749808" cy="46634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D3</a:t>
              </a:r>
              <a:endParaRPr lang="th-TH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5577840" y="2597214"/>
              <a:ext cx="1820795" cy="19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577840" y="3072785"/>
              <a:ext cx="1820795" cy="19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5694104" y="2676021"/>
              <a:ext cx="1104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2400" dirty="0"/>
                <a:t>ตารางภาษี</a:t>
              </a:r>
            </a:p>
          </p:txBody>
        </p:sp>
      </p:grpSp>
      <p:cxnSp>
        <p:nvCxnSpPr>
          <p:cNvPr id="24" name="Straight Arrow Connector 23"/>
          <p:cNvCxnSpPr>
            <a:endCxn id="9" idx="0"/>
          </p:cNvCxnSpPr>
          <p:nvPr/>
        </p:nvCxnSpPr>
        <p:spPr>
          <a:xfrm>
            <a:off x="5852160" y="3072785"/>
            <a:ext cx="0" cy="622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2969917" y="5763443"/>
            <a:ext cx="2151374" cy="540472"/>
            <a:chOff x="4828032" y="2597214"/>
            <a:chExt cx="2570603" cy="540472"/>
          </a:xfrm>
        </p:grpSpPr>
        <p:sp>
          <p:nvSpPr>
            <p:cNvPr id="26" name="Rectangle 25"/>
            <p:cNvSpPr/>
            <p:nvPr/>
          </p:nvSpPr>
          <p:spPr>
            <a:xfrm>
              <a:off x="4828032" y="2606899"/>
              <a:ext cx="749808" cy="46634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D1</a:t>
              </a:r>
              <a:endParaRPr lang="th-TH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Straight Connector 26"/>
            <p:cNvCxnSpPr/>
            <p:nvPr/>
          </p:nvCxnSpPr>
          <p:spPr>
            <a:xfrm>
              <a:off x="5577840" y="2597214"/>
              <a:ext cx="1820795" cy="19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5577840" y="3072785"/>
              <a:ext cx="1820795" cy="19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5694104" y="2676021"/>
              <a:ext cx="1104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2400" dirty="0"/>
                <a:t>ตารางภาษี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616013" y="5707471"/>
            <a:ext cx="2043625" cy="540472"/>
            <a:chOff x="4828032" y="2597214"/>
            <a:chExt cx="2570603" cy="540472"/>
          </a:xfrm>
        </p:grpSpPr>
        <p:sp>
          <p:nvSpPr>
            <p:cNvPr id="31" name="Rectangle 30"/>
            <p:cNvSpPr/>
            <p:nvPr/>
          </p:nvSpPr>
          <p:spPr>
            <a:xfrm>
              <a:off x="4828032" y="2606899"/>
              <a:ext cx="749808" cy="46634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D2</a:t>
              </a:r>
              <a:endParaRPr lang="th-TH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5577840" y="2597214"/>
              <a:ext cx="1820795" cy="19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5577840" y="3072785"/>
              <a:ext cx="1820795" cy="19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5694104" y="2676021"/>
              <a:ext cx="11047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2400" dirty="0"/>
                <a:t>ตารางภาษี</a:t>
              </a:r>
            </a:p>
          </p:txBody>
        </p:sp>
      </p:grpSp>
      <p:cxnSp>
        <p:nvCxnSpPr>
          <p:cNvPr id="36" name="Straight Arrow Connector 35"/>
          <p:cNvCxnSpPr/>
          <p:nvPr/>
        </p:nvCxnSpPr>
        <p:spPr>
          <a:xfrm flipV="1">
            <a:off x="4267559" y="5321808"/>
            <a:ext cx="1145689" cy="4038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8" idx="5"/>
          </p:cNvCxnSpPr>
          <p:nvPr/>
        </p:nvCxnSpPr>
        <p:spPr>
          <a:xfrm flipH="1" flipV="1">
            <a:off x="6576328" y="5154550"/>
            <a:ext cx="498055" cy="5436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798894" y="4973230"/>
            <a:ext cx="732587" cy="7342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073361" y="5345046"/>
            <a:ext cx="868680" cy="539496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8759800" y="5041593"/>
            <a:ext cx="811343" cy="719810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85298" y="5629369"/>
            <a:ext cx="1482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Data Stores </a:t>
            </a:r>
            <a:endParaRPr lang="th-TH" sz="2000" dirty="0">
              <a:solidFill>
                <a:srgbClr val="FF000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108197" y="5582758"/>
            <a:ext cx="1482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Data Stores </a:t>
            </a:r>
            <a:endParaRPr lang="th-TH" sz="2000" dirty="0">
              <a:solidFill>
                <a:srgbClr val="FF0000"/>
              </a:solidFill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7578126" y="2886284"/>
            <a:ext cx="1181674" cy="0"/>
          </a:xfrm>
          <a:prstGeom prst="straightConnector1">
            <a:avLst/>
          </a:prstGeom>
          <a:ln w="571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936828" y="2682360"/>
            <a:ext cx="14827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Data Stores </a:t>
            </a:r>
            <a:endParaRPr lang="th-TH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2468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วิธีการสร้างแผนภาพกระแสข้อมูล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015" y="2180495"/>
            <a:ext cx="6857999" cy="4620687"/>
          </a:xfrm>
        </p:spPr>
        <p:txBody>
          <a:bodyPr anchor="t">
            <a:normAutofit/>
          </a:bodyPr>
          <a:lstStyle/>
          <a:p>
            <a:r>
              <a:rPr lang="th-TH" sz="2400" dirty="0"/>
              <a:t>เป็นการสร้างด้วยหลักการทำงานจากบนลงล่าง </a:t>
            </a:r>
            <a:r>
              <a:rPr lang="en-US" sz="2400" dirty="0"/>
              <a:t>(Top – Down Approach)</a:t>
            </a:r>
            <a:r>
              <a:rPr lang="th-TH" sz="2400" dirty="0"/>
              <a:t> โดยใช้วิธีแบ่งย่อยแผนภาพ ดังนี้</a:t>
            </a:r>
          </a:p>
          <a:p>
            <a:pPr marL="781200" lvl="1" indent="-457200">
              <a:buFont typeface="+mj-lt"/>
              <a:buAutoNum type="arabicPeriod"/>
            </a:pPr>
            <a:r>
              <a:rPr lang="th-TH" sz="2200" dirty="0"/>
              <a:t>แผนภาพรวมของระบบทั้งหมด เรียก </a:t>
            </a:r>
            <a:r>
              <a:rPr lang="en-US" sz="2200" dirty="0"/>
              <a:t>Context Diagram</a:t>
            </a:r>
          </a:p>
          <a:p>
            <a:pPr marL="781200" lvl="1" indent="-457200">
              <a:buFont typeface="+mj-lt"/>
              <a:buAutoNum type="arabicPeriod"/>
            </a:pPr>
            <a:r>
              <a:rPr lang="th-TH" sz="2200" dirty="0"/>
              <a:t>แผนภาพแสดงองค์ประกอบของกระบวนการทำงานหลัก เรียก </a:t>
            </a:r>
            <a:r>
              <a:rPr lang="en-US" sz="2200" dirty="0"/>
              <a:t>Data Flow Diagram Level 0</a:t>
            </a:r>
          </a:p>
          <a:p>
            <a:pPr marL="781200" lvl="1" indent="-457200">
              <a:buFont typeface="+mj-lt"/>
              <a:buAutoNum type="arabicPeriod"/>
            </a:pPr>
            <a:r>
              <a:rPr lang="th-TH" sz="2200" dirty="0"/>
              <a:t>แปนภาพแสดงรายละเอียดการทำงานแต่ละกระบวนการทำงานในระดับ 0 เรียกว่า </a:t>
            </a:r>
            <a:r>
              <a:rPr lang="en-US" sz="2200" dirty="0"/>
              <a:t>Data Flow Diagram Level 1</a:t>
            </a:r>
          </a:p>
          <a:p>
            <a:pPr marL="781200" lvl="1" indent="-457200">
              <a:buFont typeface="+mj-lt"/>
              <a:buAutoNum type="arabicPeriod"/>
            </a:pPr>
            <a:r>
              <a:rPr lang="th-TH" sz="2200" dirty="0"/>
              <a:t>แผนภาพแสดงรายละเอียดการทำงานแต่ละกระบวนการทำงานในระดับ 1 เรียกว่า </a:t>
            </a:r>
            <a:r>
              <a:rPr lang="en-US" sz="2200" dirty="0"/>
              <a:t>Data Flow Diagram Level 2</a:t>
            </a:r>
            <a:endParaRPr lang="th-TH" sz="2200" dirty="0"/>
          </a:p>
          <a:p>
            <a:pPr marL="781200" lvl="1" indent="-457200">
              <a:buFont typeface="+mj-lt"/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การตรวจสอบความสมดุลของแผนภาพ (</a:t>
            </a:r>
            <a:r>
              <a:rPr lang="en-US" sz="2000" dirty="0">
                <a:solidFill>
                  <a:schemeClr val="tx1"/>
                </a:solidFill>
                <a:latin typeface="Prompt" panose="00000500000000000000" pitchFamily="2" charset="-34"/>
                <a:cs typeface="Prompt" panose="00000500000000000000" pitchFamily="2" charset="-34"/>
              </a:rPr>
              <a:t>Balancing)</a:t>
            </a:r>
          </a:p>
          <a:p>
            <a:pPr marL="781200" lvl="1" indent="-457200">
              <a:buFont typeface="+mj-lt"/>
              <a:buAutoNum type="arabicPeriod"/>
            </a:pPr>
            <a:endParaRPr lang="th-TH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4911" t="20794" r="34197" b="6190"/>
          <a:stretch/>
        </p:blipFill>
        <p:spPr>
          <a:xfrm>
            <a:off x="7223863" y="968827"/>
            <a:ext cx="4386945" cy="583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9785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แผนภาพบริบท </a:t>
            </a:r>
            <a:r>
              <a:rPr lang="en-US" dirty="0"/>
              <a:t>(Context diagram)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229" y="2180496"/>
            <a:ext cx="5573485" cy="3926390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000" dirty="0"/>
              <a:t>	</a:t>
            </a:r>
            <a:r>
              <a:rPr lang="th-TH" sz="2000" dirty="0"/>
              <a:t>เป็นแผนภาพระดับบนสุด ซึ่งจะแสดงถึงขอบเขตของระบบว่ามีปฏิสัมพันธ์กับสิ่งแวดล้อมของระบบอย่างไร โดยจะไม่แสดงรายละเอียดของกระบวนการทำงานภายในระบบ และไม่แสดงแหล่งจัดเก็บข้อมูลต่าง ของระบบ</a:t>
            </a:r>
          </a:p>
          <a:p>
            <a:pPr marL="0" indent="0">
              <a:buNone/>
            </a:pPr>
            <a:r>
              <a:rPr lang="th-TH" sz="2000" dirty="0"/>
              <a:t>	หลักการสร้างแผนภาพบริบท</a:t>
            </a:r>
          </a:p>
          <a:p>
            <a:pPr marL="342900" indent="0">
              <a:buNone/>
            </a:pPr>
            <a:r>
              <a:rPr lang="th-TH" sz="2000" dirty="0"/>
              <a:t>		1.  ระบบหนึ่ง ๆ จะมีการสร้างแผนภาพบริบทเพียง 1 ภายเท่านั้น</a:t>
            </a:r>
          </a:p>
          <a:p>
            <a:pPr marL="342900" indent="0">
              <a:buNone/>
            </a:pPr>
            <a:r>
              <a:rPr lang="th-TH" sz="2000" dirty="0"/>
              <a:t>		2.  แผนภาพบริบทจะมีกระบวนการทำงานเพียง 1 กระบวนการเท่านั้น โดยใช้ชื่อของระบบที่จะพัฒนาเป็นชื่อกระบวนการทำงาน และใช้หมายเลข 0 เพื่อกำกับระดับของกระบวนการ</a:t>
            </a:r>
          </a:p>
          <a:p>
            <a:pPr marL="342900" indent="0">
              <a:buNone/>
            </a:pPr>
            <a:r>
              <a:rPr lang="th-TH" sz="2000" dirty="0"/>
              <a:t>		3.  กำหนดชื่อเอนทิตีภายนอกที่เกี่ยวข้องกับระบบ จากนั้นสร้างความสัมพันธ์ในรูปแบบของกระแสข้อมูลที่รับ-ส่งระหว่างเอนทิตีภายนอกกับระบบทั้งหมด</a:t>
            </a:r>
          </a:p>
          <a:p>
            <a:pPr marL="342900" indent="0">
              <a:buNone/>
            </a:pPr>
            <a:r>
              <a:rPr lang="th-TH" sz="2000" dirty="0"/>
              <a:t>	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0893" t="31429" r="34732" b="33651"/>
          <a:stretch/>
        </p:blipFill>
        <p:spPr>
          <a:xfrm>
            <a:off x="6172200" y="2180496"/>
            <a:ext cx="5785328" cy="33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52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แผนภาพระดับที่ 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4077894" cy="3678303"/>
          </a:xfrm>
        </p:spPr>
        <p:txBody>
          <a:bodyPr anchor="t">
            <a:normAutofit/>
          </a:bodyPr>
          <a:lstStyle/>
          <a:p>
            <a:r>
              <a:rPr lang="th-TH" sz="2400" dirty="0"/>
              <a:t>เป็นแผนภาพที่ถัดมาจากแผนภาพบริบท โดยแสดงถึงรายละเอียดของกระบวนการทำงานหลักของระบบว่ามีการประสานงานรับ/ส่งข้อมูลและสารสนเทศกับเอนทิตีภายนอกใดบ้าง นอกจากนั้นยังแสดงถึงการเชื่อมโยงการทำงานระหว่างกระบวนการทำงานต่าง ๆ รวมทั้งการจัดเก็บและค้นหาข้อมูลจากแหล่งเก็บด้วย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2233" t="41905" r="30535" b="6190"/>
          <a:stretch/>
        </p:blipFill>
        <p:spPr>
          <a:xfrm>
            <a:off x="5421085" y="2013856"/>
            <a:ext cx="5682344" cy="445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304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หลักการสร้างแผนภาพระดับที่ 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th-TH" sz="2400" dirty="0"/>
              <a:t>ระบบหนึ่ง ๆ จะมีการสร้างแผนภาพระดบ 0 เพียง 1 แผนภาพ เท่านั้น </a:t>
            </a:r>
          </a:p>
          <a:p>
            <a:r>
              <a:rPr lang="th-TH" sz="2400" dirty="0"/>
              <a:t>สร้างกระบวนการทำงานหลักของระบบ ตามหลักการกำหนดกระบวนการทำงาน  กระบวนการทำงานแต่ละระดับควรมีประมาณ 5 – 7 กระบวนการ </a:t>
            </a:r>
          </a:p>
          <a:p>
            <a:r>
              <a:rPr lang="th-TH" sz="2400" dirty="0"/>
              <a:t>นำเอนทิตีภายนอกและกระแสข้อมูลที่ได้กำหนดไว้ในแผนภาพบริบทมาสร้างความสัมพันธ์กับกระบวนการทำงานที่ได้กำหนดไว้</a:t>
            </a:r>
          </a:p>
          <a:p>
            <a:r>
              <a:rPr lang="th-TH" sz="2400" dirty="0"/>
              <a:t>สร้างกระแสข้อมูลที่เชื่อมโยงระหว่างกระบวนการทำงานต่าง ๆ (ถ้ามี)</a:t>
            </a:r>
          </a:p>
          <a:p>
            <a:r>
              <a:rPr lang="th-TH" sz="2400" dirty="0"/>
              <a:t>สร้างแหล่งจัดเก็บข้อมูล ตามหลักการกำหนดแหล่งจัดเก็บข้อมูล โดยพิจารณาว่าแต่ละกระบวนการทำงานจะต้องจัดเก็บและค้นหาข้อมูลจากแหล่งใด</a:t>
            </a:r>
          </a:p>
          <a:p>
            <a:endParaRPr lang="th-TH" sz="2400" dirty="0"/>
          </a:p>
        </p:txBody>
      </p:sp>
    </p:spTree>
    <p:extLst>
      <p:ext uri="{BB962C8B-B14F-4D97-AF65-F5344CB8AC3E}">
        <p14:creationId xmlns:p14="http://schemas.microsoft.com/office/powerpoint/2010/main" val="513344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แผนภาพระดับล่าง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525104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th-TH" sz="2400" dirty="0"/>
              <a:t>	แผนภาพระดับ 1 จะอธิบายแผนภาพระดับ 0 และแผนภาพระดับ 2 จะอธิบายแผนภาพระดับ 1 โดยจะแสดงรายละเอียดของวิธีการทำงานให้ชัดเจน</a:t>
            </a:r>
          </a:p>
          <a:p>
            <a:pPr marL="0" indent="0">
              <a:buNone/>
            </a:pPr>
            <a:r>
              <a:rPr lang="th-TH" sz="2400" dirty="0"/>
              <a:t>	หลักการสร้างแผนภาพ ระดับที่ 1 </a:t>
            </a:r>
          </a:p>
          <a:p>
            <a:pPr marL="0" indent="0">
              <a:buNone/>
            </a:pPr>
            <a:r>
              <a:rPr lang="th-TH" sz="2400" dirty="0"/>
              <a:t>	1.  การสร้างแผนภาพระดับที่ 1 ต้องสามารถกำหนดกระบวนการได้ไม่น้อยกว่า 3 กระบวนการ ถ้าน้อยกว่าถือว่าไม่ซับซ้อน ไม่จำเป็นต้องแสดงรายละเอียด</a:t>
            </a:r>
          </a:p>
          <a:p>
            <a:pPr marL="0" indent="0">
              <a:buNone/>
            </a:pPr>
            <a:r>
              <a:rPr lang="th-TH" sz="2400" dirty="0"/>
              <a:t>	2. หมายเลขกำกับกระบวนการทำงานย่อย จะต้องเป็นเลขจำนวนจริงที่มีทศนิยม 1 ตำแหน่ง  ประกอบด้วยเลขจำนวนเต็มตามหมายเลขกระบวนการทำงานหลักแล้วเพิ่มเลขทศนิยม 1 ตำแหน่งเพื่อแสดงลำดับของกระบวนการทำงานย่อย</a:t>
            </a:r>
          </a:p>
          <a:p>
            <a:pPr marL="0" indent="0">
              <a:buNone/>
            </a:pPr>
            <a:r>
              <a:rPr lang="th-TH" sz="2400" dirty="0"/>
              <a:t>	3. กระแสข้อมูลที่มีต้นทางหรือปลายทางเป็นเอนทิตีภายนอกหรือกระบวนการทำงานหลัก จะแสดงทิศทางการไหลของข้อมูลเช่นเดียวกันกับในแผนภาพระดับที่ 0 เพียงแต่ไม่ปรากฎสัญลักษณ์ ของเอนทิตีภายนอกหรือกระบวนการทำงานหลักนั้น ๆ ให้เน้นไปยังส่วนของกระบวนการทำงานย่อยที่เป็นกิจกรรมภายใต้กระบวนการหลัก</a:t>
            </a:r>
          </a:p>
          <a:p>
            <a:pPr marL="0" indent="0">
              <a:buNone/>
            </a:pPr>
            <a:r>
              <a:rPr lang="th-TH" sz="2400" dirty="0"/>
              <a:t>	4. นำแหล่งจัดเก็บข้อมูลพร้อมทั้งกระแสข้อมูลที่ได้กำหนดไว้ในแผนภาพระดับที่ 0 มาสร้างความสัมพันธ์กับกระบวนการทำงานย่อยที่ได้กำหนดไว้</a:t>
            </a:r>
          </a:p>
          <a:p>
            <a:pPr marL="0" indent="0">
              <a:buNone/>
            </a:pPr>
            <a:r>
              <a:rPr lang="th-TH" sz="2400" dirty="0"/>
              <a:t>	5. สร้างกระแสข้อมูลที่เชื่อมโยงระหว่างกระบวนการทำงานย่อยต่าง ๆ </a:t>
            </a:r>
          </a:p>
        </p:txBody>
      </p:sp>
    </p:spTree>
    <p:extLst>
      <p:ext uri="{BB962C8B-B14F-4D97-AF65-F5344CB8AC3E}">
        <p14:creationId xmlns:p14="http://schemas.microsoft.com/office/powerpoint/2010/main" val="3222747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ความสัมพันธ์ของแผนภาพกระแสข้อมูลแต่ละระดับ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Context Diagram</a:t>
            </a:r>
            <a:endParaRPr lang="th-T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0893" t="31429" r="34732" b="33651"/>
          <a:stretch/>
        </p:blipFill>
        <p:spPr>
          <a:xfrm>
            <a:off x="2405743" y="2659516"/>
            <a:ext cx="6661541" cy="380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237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ความสัมพันธ์ของแผนภาพกระแสข้อมูลแต่ละระดับ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DFD Level 0</a:t>
            </a:r>
            <a:endParaRPr lang="th-T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3750" t="9365" r="31964" b="5873"/>
          <a:stretch/>
        </p:blipFill>
        <p:spPr>
          <a:xfrm>
            <a:off x="3156857" y="728811"/>
            <a:ext cx="4180114" cy="58129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3750" t="52135" r="40498" b="19410"/>
          <a:stretch/>
        </p:blipFill>
        <p:spPr>
          <a:xfrm>
            <a:off x="7719031" y="3256582"/>
            <a:ext cx="4186562" cy="260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7587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DFD Level 1</a:t>
            </a:r>
            <a:endParaRPr lang="th-TH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7589" t="33810" r="31965" b="18729"/>
          <a:stretch/>
        </p:blipFill>
        <p:spPr>
          <a:xfrm>
            <a:off x="6313713" y="1828799"/>
            <a:ext cx="5529943" cy="48488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33750" t="52135" r="40498" b="19410"/>
          <a:stretch/>
        </p:blipFill>
        <p:spPr>
          <a:xfrm>
            <a:off x="784832" y="2952109"/>
            <a:ext cx="4186562" cy="26022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ight Arrow 5"/>
          <p:cNvSpPr/>
          <p:nvPr/>
        </p:nvSpPr>
        <p:spPr>
          <a:xfrm>
            <a:off x="5061857" y="3929743"/>
            <a:ext cx="1219200" cy="3234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867395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กระบวนการทำงาน </a:t>
            </a:r>
            <a:r>
              <a:rPr lang="en-US" dirty="0"/>
              <a:t>(Process)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572" y="2134197"/>
            <a:ext cx="8759577" cy="3678303"/>
          </a:xfrm>
        </p:spPr>
        <p:txBody>
          <a:bodyPr anchor="t">
            <a:normAutofit lnSpcReduction="10000"/>
          </a:bodyPr>
          <a:lstStyle/>
          <a:p>
            <a:r>
              <a:rPr lang="th-TH" sz="2400" dirty="0"/>
              <a:t>เป็นสัญลักษณ์ที่แสดงถึง กระบวนการทำงานทางธุรกิจว่า การทำงานในขั้นตอนนั้น ๆ จำเป็นจะต้องใช้ข้อมูลนำเข้า </a:t>
            </a:r>
            <a:r>
              <a:rPr lang="en-US" sz="2400" dirty="0"/>
              <a:t>(Input)</a:t>
            </a:r>
            <a:r>
              <a:rPr lang="th-TH" sz="2400" dirty="0"/>
              <a:t> และประมวลผลเพื่อให้ได้ข้อมูล/สารสนเทศที่เป็นผลลัพธ์ </a:t>
            </a:r>
            <a:r>
              <a:rPr lang="en-US" sz="2400" dirty="0"/>
              <a:t>(Output) </a:t>
            </a:r>
            <a:r>
              <a:rPr lang="th-TH" sz="2400" dirty="0"/>
              <a:t>ใดบ้าง โดยข้อมูลนำเข้าอาจมาจากกระบวนการทำงานอื่น เอนทิตีภายนอก หรือแหล่งจัดเก็บข้อมูล</a:t>
            </a:r>
          </a:p>
          <a:p>
            <a:r>
              <a:rPr lang="th-TH" sz="2400" b="1" dirty="0"/>
              <a:t>หลักการกำหนดกระบวนการทำงาน</a:t>
            </a:r>
          </a:p>
          <a:p>
            <a:pPr marL="666900" lvl="1" indent="-342900">
              <a:buFont typeface="+mj-lt"/>
              <a:buAutoNum type="arabicPeriod"/>
            </a:pPr>
            <a:r>
              <a:rPr lang="th-TH" sz="2400" dirty="0"/>
              <a:t>แต่ละกระบวนการทำงานจะต้องมีหลายเลขกำกับ เพื่อแสดงลำดับของกระบวนการทำงาน หมายเลขต้องไม่ซ้ำกัน และแสดงความสัมพันธ์ระหว่างแผนภาพระดับบนและระดับล่างเสมอ การเรียงลำดับมี 2 แบบคือ </a:t>
            </a:r>
          </a:p>
          <a:p>
            <a:pPr marL="594000" lvl="2" indent="0">
              <a:buNone/>
            </a:pPr>
            <a:r>
              <a:rPr lang="th-TH" sz="2400" dirty="0"/>
              <a:t>1.1 การเรียงลำดับ ของกระบวนการทำงานตามลำดับเหตุการณ์ที่เกิดขึ้น </a:t>
            </a:r>
          </a:p>
          <a:p>
            <a:pPr marL="594000" lvl="2" indent="0">
              <a:buNone/>
            </a:pPr>
            <a:r>
              <a:rPr lang="th-TH" sz="2400" dirty="0"/>
              <a:t>1.2 การกำหนดลำดับของกระบวนการทำงานตามความถี่ของเหตุการณ์ที่จะเกิดขึ้น</a:t>
            </a:r>
          </a:p>
        </p:txBody>
      </p:sp>
      <p:sp>
        <p:nvSpPr>
          <p:cNvPr id="6" name="Oval 5"/>
          <p:cNvSpPr/>
          <p:nvPr/>
        </p:nvSpPr>
        <p:spPr>
          <a:xfrm>
            <a:off x="9562617" y="2134197"/>
            <a:ext cx="1874569" cy="1392482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80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th-TH" sz="2800" dirty="0"/>
              <a:t>สมัครสมาชิก</a:t>
            </a:r>
          </a:p>
        </p:txBody>
      </p:sp>
      <p:sp>
        <p:nvSpPr>
          <p:cNvPr id="7" name="Oval 6"/>
          <p:cNvSpPr/>
          <p:nvPr/>
        </p:nvSpPr>
        <p:spPr>
          <a:xfrm>
            <a:off x="9562617" y="3887746"/>
            <a:ext cx="1874569" cy="1392482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8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th-TH" sz="2800" dirty="0"/>
              <a:t>รับคำสั่งซื้อ</a:t>
            </a:r>
          </a:p>
        </p:txBody>
      </p:sp>
    </p:spTree>
    <p:extLst>
      <p:ext uri="{BB962C8B-B14F-4D97-AF65-F5344CB8AC3E}">
        <p14:creationId xmlns:p14="http://schemas.microsoft.com/office/powerpoint/2010/main" val="41140018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4969" t="17236" r="45762" b="18211"/>
          <a:stretch/>
        </p:blipFill>
        <p:spPr>
          <a:xfrm>
            <a:off x="434894" y="356838"/>
            <a:ext cx="5018051" cy="6225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52945" y="884959"/>
            <a:ext cx="46535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4000" lvl="2"/>
            <a:r>
              <a:rPr lang="th-TH" sz="2400" dirty="0">
                <a:solidFill>
                  <a:schemeClr val="bg1"/>
                </a:solidFill>
              </a:rPr>
              <a:t>1.1 การเรียงลำดับ ของกระบวนการทำงานตามลำดับเหตุการณ์ที่เกิดขึ้น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8940" y="2252546"/>
            <a:ext cx="552587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800" dirty="0"/>
              <a:t>ระบบกำหนดกระบวนการทำงาน การจัดการข้อมูลหลัก </a:t>
            </a:r>
          </a:p>
          <a:p>
            <a:r>
              <a:rPr lang="th-TH" sz="2800" dirty="0"/>
              <a:t>และสมัครสมาชิก เป็น 2 กระบวนการแรก จากนั้นเป็น</a:t>
            </a:r>
          </a:p>
          <a:p>
            <a:r>
              <a:rPr lang="th-TH" sz="2800" dirty="0"/>
              <a:t>กระบวนการทำงาน รับคำสั่งซื้อและตรวจสอบเครดิต</a:t>
            </a:r>
          </a:p>
        </p:txBody>
      </p:sp>
    </p:spTree>
    <p:extLst>
      <p:ext uri="{BB962C8B-B14F-4D97-AF65-F5344CB8AC3E}">
        <p14:creationId xmlns:p14="http://schemas.microsoft.com/office/powerpoint/2010/main" val="23842018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9800" y="1984553"/>
            <a:ext cx="5192486" cy="3678303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h-TH" sz="2800" dirty="0"/>
              <a:t>โดยกระบวนการที่มีความถี่สูงจะอยู่ในลำดับต้น ๆ ของกระบวนการทำงาน ส่วนที่มีความถี่น้อยจะอยู่ท้าย ๆ ดังนี้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th-TH" sz="2600" dirty="0"/>
              <a:t> กระบวนการรับคำสั่งซื้อ และตรวจสอบบัตรเครดิต มีความถี่มากกว่าจะอยู่ลำดับต้น ๆ ส่วน สมัครสมาชิกและจัดการข้อมูลหลักมีความถี่น้อยกว่า ก็จะถูกจัดให้อยู่ท้าย ๆ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4196" t="12540" r="39375" b="7460"/>
          <a:stretch/>
        </p:blipFill>
        <p:spPr>
          <a:xfrm>
            <a:off x="468086" y="209113"/>
            <a:ext cx="5214257" cy="64411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19800" y="788426"/>
            <a:ext cx="5368777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</a:rPr>
              <a:t>1.2 การกำหนดลำดับของกระบวนการทำงานตาม</a:t>
            </a:r>
          </a:p>
          <a:p>
            <a:r>
              <a:rPr lang="th-TH" sz="2800" b="1" dirty="0">
                <a:solidFill>
                  <a:schemeClr val="bg1"/>
                </a:solidFill>
              </a:rPr>
              <a:t>ความถี่ของเหตุการณ์ที่จะเกิดขึ้น </a:t>
            </a:r>
          </a:p>
        </p:txBody>
      </p:sp>
    </p:spTree>
    <p:extLst>
      <p:ext uri="{BB962C8B-B14F-4D97-AF65-F5344CB8AC3E}">
        <p14:creationId xmlns:p14="http://schemas.microsoft.com/office/powerpoint/2010/main" val="10233902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หลักการกำหนดกระบวนการทำงาน (ต่อ)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th-TH" sz="2400" b="1" dirty="0">
                <a:solidFill>
                  <a:schemeClr val="tx1"/>
                </a:solidFill>
              </a:rPr>
              <a:t>การเรียงลำดับทั้งแบบ</a:t>
            </a:r>
          </a:p>
          <a:p>
            <a:r>
              <a:rPr lang="th-TH" sz="2400" b="1" dirty="0">
                <a:solidFill>
                  <a:schemeClr val="tx1"/>
                </a:solidFill>
              </a:rPr>
              <a:t>การเรียงลำดับ ของกระบวนการทำงานตามลำดับเหตุการณ์ที่เกิดขึ้น และ</a:t>
            </a:r>
          </a:p>
          <a:p>
            <a:r>
              <a:rPr lang="th-TH" sz="2400" b="1" dirty="0"/>
              <a:t>การกำหนดลำดับของกระบวนการทำงานตามความถี่ของเหตุการณ์ที่จะเกิดขึ้น</a:t>
            </a:r>
          </a:p>
          <a:p>
            <a:pPr marL="0" indent="0">
              <a:buNone/>
            </a:pPr>
            <a:r>
              <a:rPr lang="th-TH" sz="2400" b="1" dirty="0"/>
              <a:t>	สามารถวิเคราะห์ระบบได้เหมือนกัน ขอบเขตการทำงานของระบบเท่ากัน แต่นักวิเคราะห์ต้องศึกษาเพิ่มขึ้นเพื่อเรียงลำดับให้ตรงกับความต้องการใช้งานมากที่สุด เพราะเกี่ยวข้องกับการออกแบบหน้าจอในส่วนของเมนูการใช้งาน ดังนี้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82057" y="4756547"/>
          <a:ext cx="3120571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th-TH" sz="2000" dirty="0">
                          <a:solidFill>
                            <a:schemeClr val="tx1"/>
                          </a:solidFill>
                        </a:rPr>
                        <a:t>การจัดข้อมูลหลัก</a:t>
                      </a: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&gt;&gt;</a:t>
                      </a:r>
                      <a:endParaRPr lang="th-TH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000" dirty="0">
                          <a:solidFill>
                            <a:schemeClr val="tx1"/>
                          </a:solidFill>
                        </a:rPr>
                        <a:t>สมัครสมาชิก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000" dirty="0">
                          <a:solidFill>
                            <a:schemeClr val="tx1"/>
                          </a:solidFill>
                        </a:rPr>
                        <a:t>รับคำสั่งซื้อ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2000" dirty="0">
                          <a:solidFill>
                            <a:schemeClr val="tx1"/>
                          </a:solidFill>
                        </a:rPr>
                        <a:t>ตรวจสอบเครดิต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854" y="4751359"/>
          <a:ext cx="3120571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000" dirty="0">
                          <a:solidFill>
                            <a:schemeClr val="tx1"/>
                          </a:solidFill>
                        </a:rPr>
                        <a:t>รับคำสั่งซื้อ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000" dirty="0">
                          <a:solidFill>
                            <a:schemeClr val="tx1"/>
                          </a:solidFill>
                        </a:rPr>
                        <a:t>ตรวจสอบเครดิต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000" dirty="0">
                          <a:solidFill>
                            <a:schemeClr val="tx1"/>
                          </a:solidFill>
                        </a:rPr>
                        <a:t>สมัครสมาชิก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2000" dirty="0">
                          <a:solidFill>
                            <a:schemeClr val="tx1"/>
                          </a:solidFill>
                        </a:rPr>
                        <a:t>การจัดข้อมูลหลัก</a:t>
                      </a:r>
                      <a:r>
                        <a:rPr lang="th-TH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&gt;&gt;</a:t>
                      </a:r>
                      <a:endParaRPr lang="th-TH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011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หลักการกำหนดกระบวนการทำงาน (ต่อ)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342900" indent="-342900">
              <a:buAutoNum type="arabicPeriod" startAt="2"/>
            </a:pPr>
            <a:r>
              <a:rPr lang="th-TH" sz="2400" dirty="0"/>
              <a:t>กระบวนการทำงานจะต้องขึ้นต้นด้วยคำกริยา เท่านั้น จากนั้นจึงเป็นคำนาม และ/หรือคำคุณศัพท์ เช่น คำนวณภาษี ตรวจสอบยอดหนี้คงค้าง จัดพิมพ์ใบแจ้งหนี้ และ ปรับปรุงปริมาณสินค้าคงเหลือ เป็นต้น </a:t>
            </a:r>
          </a:p>
          <a:p>
            <a:pPr marL="342900" indent="-342900">
              <a:buAutoNum type="arabicPeriod" startAt="2"/>
            </a:pPr>
            <a:r>
              <a:rPr lang="th-TH" sz="2400" dirty="0"/>
              <a:t>กระบวนการทำงานจะต้องใช้คำที่สามารถสื่อให้เห็นถึงกิจกรรมที่ทำในขั้นตอนนี้อย่างชัดเจน นักวิเคราะห์ระบบไม่ควรใช้คำที่กว้างจนไม่สามารถสื่อสารได้ว่าทำอะไรบ้างในขั้นตอนนี้ และในขณะเดียวกันก็ไม่ควรใช้คำที่แคบจนกระทั้งไม่ครอบคลุมสิ่งที่เกิดขึ้นในขั้นตอนดังกล่าว </a:t>
            </a:r>
          </a:p>
          <a:p>
            <a:pPr marL="342900" indent="-342900">
              <a:buAutoNum type="arabicPeriod" startAt="2"/>
            </a:pPr>
            <a:endParaRPr lang="th-TH" sz="2400" dirty="0"/>
          </a:p>
        </p:txBody>
      </p:sp>
    </p:spTree>
    <p:extLst>
      <p:ext uri="{BB962C8B-B14F-4D97-AF65-F5344CB8AC3E}">
        <p14:creationId xmlns:p14="http://schemas.microsoft.com/office/powerpoint/2010/main" val="29799659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หลักการกำหนดกระบวนการทำงาน (ต่อ)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84067"/>
            <a:ext cx="11029615" cy="3678303"/>
          </a:xfrm>
        </p:spPr>
        <p:txBody>
          <a:bodyPr anchor="t">
            <a:normAutofit/>
          </a:bodyPr>
          <a:lstStyle/>
          <a:p>
            <a:r>
              <a:rPr lang="th-TH" sz="2400" dirty="0"/>
              <a:t>ตัวอย่างการกำหนดคำในกระบวนการทำงานทางธุรกิจ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192" y="2487900"/>
          <a:ext cx="10856065" cy="393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61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5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9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กระบวนการทำงาน</a:t>
                      </a:r>
                    </a:p>
                    <a:p>
                      <a:pPr algn="ctr"/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ที่เหมาะสม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กระบวนการทำงาน</a:t>
                      </a:r>
                    </a:p>
                    <a:p>
                      <a:pPr algn="ctr"/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ที่ไม่เหมาะสม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คำอธิบาย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th-TH" sz="2400" dirty="0">
                        <a:solidFill>
                          <a:schemeClr val="tx1"/>
                        </a:solidFill>
                      </a:endParaRPr>
                    </a:p>
                    <a:p>
                      <a:endParaRPr lang="th-TH" sz="2400" dirty="0">
                        <a:solidFill>
                          <a:schemeClr val="tx1"/>
                        </a:solidFill>
                      </a:endParaRPr>
                    </a:p>
                    <a:p>
                      <a:endParaRPr lang="th-TH" sz="2400" dirty="0">
                        <a:solidFill>
                          <a:schemeClr val="tx1"/>
                        </a:solidFill>
                      </a:endParaRPr>
                    </a:p>
                    <a:p>
                      <a:endParaRPr lang="th-TH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th-TH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รูปด้านขวาใช้คำนามในการกำหนดกระบวนการทำงาน</a:t>
                      </a: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 ซึ่งผิดหลักการกำหนดกระบวนการทำงานในข้อที่ 2 ที่ว่า กระบวนการทำงานจะต้องเป็นคำกริยาเท่านั้น ดังรูปซ้าย</a:t>
                      </a:r>
                      <a:endParaRPr lang="th-TH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th-TH" sz="2400" dirty="0">
                        <a:solidFill>
                          <a:schemeClr val="tx1"/>
                        </a:solidFill>
                      </a:endParaRPr>
                    </a:p>
                    <a:p>
                      <a:endParaRPr lang="th-TH" sz="2400" dirty="0">
                        <a:solidFill>
                          <a:schemeClr val="tx1"/>
                        </a:solidFill>
                      </a:endParaRPr>
                    </a:p>
                    <a:p>
                      <a:endParaRPr lang="th-TH" sz="2400" dirty="0">
                        <a:solidFill>
                          <a:schemeClr val="tx1"/>
                        </a:solidFill>
                      </a:endParaRPr>
                    </a:p>
                    <a:p>
                      <a:endParaRPr lang="th-TH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th-TH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รูปด้านขวาใช้คำกริยาอย่างเดียวซึ่งไม่ได้ใจความ เพราะไม่ระบุว่าประมวลผลอะไร</a:t>
                      </a: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 แตกต่างจากรูปด้านซ้าย ซึ่งสามารถสื่อสารให้เข้าใจได้ว่าเป็นการประมวลผลเกรดเฉลี่ย</a:t>
                      </a:r>
                      <a:endParaRPr lang="th-TH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1233713" y="3461962"/>
            <a:ext cx="2061030" cy="131323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b="1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th-TH" sz="2000" b="1" dirty="0">
                <a:solidFill>
                  <a:schemeClr val="tx1"/>
                </a:solidFill>
              </a:rPr>
              <a:t>คำนวณเงิน</a:t>
            </a:r>
          </a:p>
          <a:p>
            <a:pPr algn="ctr"/>
            <a:r>
              <a:rPr lang="th-TH" sz="2000" b="1" dirty="0">
                <a:solidFill>
                  <a:schemeClr val="tx1"/>
                </a:solidFill>
              </a:rPr>
              <a:t>ค่าสินค้า</a:t>
            </a:r>
          </a:p>
        </p:txBody>
      </p:sp>
      <p:sp>
        <p:nvSpPr>
          <p:cNvPr id="6" name="Oval 5"/>
          <p:cNvSpPr/>
          <p:nvPr/>
        </p:nvSpPr>
        <p:spPr>
          <a:xfrm>
            <a:off x="4020455" y="3461962"/>
            <a:ext cx="2002974" cy="131323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b="1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th-TH" sz="2000" b="1" dirty="0">
                <a:solidFill>
                  <a:schemeClr val="tx1"/>
                </a:solidFill>
              </a:rPr>
              <a:t>การคำนวณเงิน</a:t>
            </a:r>
          </a:p>
          <a:p>
            <a:pPr algn="ctr"/>
            <a:r>
              <a:rPr lang="th-TH" sz="2000" b="1" dirty="0">
                <a:solidFill>
                  <a:schemeClr val="tx1"/>
                </a:solidFill>
              </a:rPr>
              <a:t>ค่าสินค้า</a:t>
            </a:r>
          </a:p>
        </p:txBody>
      </p:sp>
      <p:sp>
        <p:nvSpPr>
          <p:cNvPr id="7" name="Oval 6"/>
          <p:cNvSpPr/>
          <p:nvPr/>
        </p:nvSpPr>
        <p:spPr>
          <a:xfrm>
            <a:off x="1233713" y="4963807"/>
            <a:ext cx="2061030" cy="131323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b="1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th-TH" sz="2000" b="1" dirty="0">
                <a:solidFill>
                  <a:schemeClr val="tx1"/>
                </a:solidFill>
              </a:rPr>
              <a:t>ประมวลผล</a:t>
            </a:r>
          </a:p>
          <a:p>
            <a:pPr algn="ctr"/>
            <a:r>
              <a:rPr lang="th-TH" sz="2000" b="1" dirty="0">
                <a:solidFill>
                  <a:schemeClr val="tx1"/>
                </a:solidFill>
              </a:rPr>
              <a:t>เกรดเฉลี่ย</a:t>
            </a:r>
          </a:p>
        </p:txBody>
      </p:sp>
      <p:sp>
        <p:nvSpPr>
          <p:cNvPr id="8" name="Oval 7"/>
          <p:cNvSpPr/>
          <p:nvPr/>
        </p:nvSpPr>
        <p:spPr>
          <a:xfrm>
            <a:off x="3947264" y="4928512"/>
            <a:ext cx="2061030" cy="131323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b="1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th-TH" sz="2000" b="1" dirty="0">
                <a:solidFill>
                  <a:schemeClr val="tx1"/>
                </a:solidFill>
              </a:rPr>
              <a:t>ประมวลผล</a:t>
            </a:r>
          </a:p>
        </p:txBody>
      </p:sp>
      <p:sp>
        <p:nvSpPr>
          <p:cNvPr id="9" name="Oval 8"/>
          <p:cNvSpPr/>
          <p:nvPr/>
        </p:nvSpPr>
        <p:spPr>
          <a:xfrm>
            <a:off x="7326217" y="2027104"/>
            <a:ext cx="2148289" cy="181778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th-TH" dirty="0">
                <a:solidFill>
                  <a:schemeClr val="tx1"/>
                </a:solidFill>
              </a:rPr>
              <a:t>ข้อมูลลูกค้า</a:t>
            </a:r>
          </a:p>
        </p:txBody>
      </p:sp>
    </p:spTree>
    <p:extLst>
      <p:ext uri="{BB962C8B-B14F-4D97-AF65-F5344CB8AC3E}">
        <p14:creationId xmlns:p14="http://schemas.microsoft.com/office/powerpoint/2010/main" val="42452765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เอนทิตีภายนอก </a:t>
            </a:r>
            <a:r>
              <a:rPr lang="en-US" dirty="0"/>
              <a:t>(External entity)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07516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	</a:t>
            </a:r>
            <a:r>
              <a:rPr lang="th-TH" sz="2400" b="1" dirty="0"/>
              <a:t>เอนทิตีภายนอก หมายถึง แหล่งข้อมูลซึ่งอาจเป็นบุคคล ระบบสารสนเทศ หรือเครื่องมือ/อุปกรณ์ใด ๆ ที่สัมพันธ์กับกระบวนการทำงานั้น ๆ โดยแบ่งเป็น 2 ประเภท คือ</a:t>
            </a:r>
          </a:p>
          <a:p>
            <a:pPr marL="0" indent="0">
              <a:buNone/>
            </a:pPr>
            <a:r>
              <a:rPr lang="th-TH" sz="2400" b="1" dirty="0"/>
              <a:t>	1. แหล่งข้อมูลนำเข้า </a:t>
            </a:r>
            <a:r>
              <a:rPr lang="en-US" sz="2400" b="1" dirty="0"/>
              <a:t>(Data Source) </a:t>
            </a:r>
            <a:r>
              <a:rPr lang="th-TH" sz="2400" b="1" dirty="0"/>
              <a:t>ที่จำเป็นต้องใช้ประกอบกระบวนการทำงาน</a:t>
            </a:r>
          </a:p>
          <a:p>
            <a:pPr marL="0" indent="0">
              <a:buNone/>
            </a:pPr>
            <a:r>
              <a:rPr lang="th-TH" sz="2400" b="1" dirty="0"/>
              <a:t>	2. แหล่งรับข้อมูล/สารสนเทศ </a:t>
            </a:r>
            <a:r>
              <a:rPr lang="en-US" sz="2400" b="1" dirty="0"/>
              <a:t>(Data/Information Destination)</a:t>
            </a:r>
            <a:r>
              <a:rPr lang="th-TH" sz="2400" b="1" dirty="0"/>
              <a:t> ซึ่งเป็นผลลัพธ์ที่ได้จากกระบวนการทำงานนั้น ๆ </a:t>
            </a:r>
          </a:p>
          <a:p>
            <a:pPr marL="0" indent="0">
              <a:buNone/>
            </a:pPr>
            <a:endParaRPr lang="th-TH" sz="2400" b="1" dirty="0"/>
          </a:p>
        </p:txBody>
      </p:sp>
      <p:grpSp>
        <p:nvGrpSpPr>
          <p:cNvPr id="15" name="Group 14"/>
          <p:cNvGrpSpPr/>
          <p:nvPr/>
        </p:nvGrpSpPr>
        <p:grpSpPr>
          <a:xfrm>
            <a:off x="2024742" y="4399607"/>
            <a:ext cx="5029201" cy="1147496"/>
            <a:chOff x="2024742" y="4399607"/>
            <a:chExt cx="5029201" cy="1147496"/>
          </a:xfrm>
        </p:grpSpPr>
        <p:sp>
          <p:nvSpPr>
            <p:cNvPr id="5" name="Rectangle 4"/>
            <p:cNvSpPr/>
            <p:nvPr/>
          </p:nvSpPr>
          <p:spPr>
            <a:xfrm>
              <a:off x="2024742" y="4524829"/>
              <a:ext cx="1208314" cy="92528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800" b="1" dirty="0">
                  <a:solidFill>
                    <a:schemeClr val="tx1"/>
                  </a:solidFill>
                </a:rPr>
                <a:t>ลูกค้า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518435" y="4427841"/>
              <a:ext cx="1535508" cy="111926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000" b="1" dirty="0">
                  <a:solidFill>
                    <a:schemeClr val="tx1"/>
                  </a:solidFill>
                </a:rPr>
                <a:t>1</a:t>
              </a:r>
            </a:p>
            <a:p>
              <a:pPr algn="ctr"/>
              <a:r>
                <a:rPr lang="th-TH" sz="2000" b="1" dirty="0">
                  <a:solidFill>
                    <a:schemeClr val="tx1"/>
                  </a:solidFill>
                </a:rPr>
                <a:t>สมัครสมาชิก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3233056" y="4769757"/>
              <a:ext cx="228537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>
              <a:off x="3233055" y="5213274"/>
              <a:ext cx="228538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840983" y="4834188"/>
              <a:ext cx="10695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2000" b="1" dirty="0"/>
                <a:t>บัตรสมาชิก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92775" y="4399607"/>
              <a:ext cx="1079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2000" b="1" dirty="0"/>
                <a:t>ข้อมูลลูกค้า</a:t>
              </a:r>
            </a:p>
          </p:txBody>
        </p:sp>
      </p:grpSp>
      <p:cxnSp>
        <p:nvCxnSpPr>
          <p:cNvPr id="7" name="Straight Arrow Connector 6"/>
          <p:cNvCxnSpPr/>
          <p:nvPr/>
        </p:nvCxnSpPr>
        <p:spPr>
          <a:xfrm flipV="1">
            <a:off x="1400537" y="5450115"/>
            <a:ext cx="624205" cy="5108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6333" y="6022461"/>
            <a:ext cx="2776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000" b="1" dirty="0"/>
              <a:t>แหล่งข้อมูลนำเข้า /แหล่งรับข้อมูล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28405575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เอนทิตีภายนอก </a:t>
            </a:r>
            <a:r>
              <a:rPr lang="en-US" dirty="0"/>
              <a:t>(External entity) </a:t>
            </a:r>
            <a:r>
              <a:rPr lang="th-TH" dirty="0"/>
              <a:t>(ต่อ)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026238"/>
            <a:ext cx="11029615" cy="4075161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	</a:t>
            </a:r>
            <a:r>
              <a:rPr lang="th-TH" sz="2400" b="1" dirty="0"/>
              <a:t>หลักการกำหนดเอนทิตีภายนอก</a:t>
            </a:r>
          </a:p>
          <a:p>
            <a:pPr marL="0" indent="0">
              <a:buNone/>
            </a:pPr>
            <a:r>
              <a:rPr lang="th-TH" sz="2400" b="1" dirty="0"/>
              <a:t>	1.  ข้อมูลที่จะนำเข้าสู่กระบวนการทำงานมีจุดกำเนิดมาจากแหล่งใด </a:t>
            </a:r>
          </a:p>
          <a:p>
            <a:pPr marL="0" indent="0">
              <a:buNone/>
            </a:pPr>
            <a:r>
              <a:rPr lang="th-TH" sz="2400" b="1" dirty="0"/>
              <a:t>	2.  ข้อมูล/สารสนเทศที่เป็นผลลัพธ์จากกระบวนการทำงาน จะต้องส่งไปยังแหล่งข้อมูลที่เป็นจุดมุ่งหมายที่แท้จริงของระบบ โดยอาจนำข้อมูล/สารสนเทศนั้น ๆ ไปจัดเก็บไว้หรือนำไปใช้ประโยชน์ต่อไป </a:t>
            </a:r>
          </a:p>
          <a:p>
            <a:pPr marL="0" indent="0">
              <a:buNone/>
            </a:pPr>
            <a:r>
              <a:rPr lang="th-TH" sz="2400" b="1" dirty="0"/>
              <a:t>	นักวิเคราะห์ระบบ ถ้ากำหนดเอนทิตีภายนอกผิด จะมีผลกระทบต่อ ข้อมูลนำเข้า สารสนเทศและรวมถึงผู้ใช้ผิดพลาดไปด้วย ทำให้ไม่สามารถใช้งานระบบได้จริง </a:t>
            </a:r>
          </a:p>
          <a:p>
            <a:pPr marL="0" indent="0">
              <a:buNone/>
            </a:pPr>
            <a:r>
              <a:rPr lang="th-TH" sz="2400" b="1" dirty="0"/>
              <a:t>	จำนวนเอนทิตีภายนอกจะบอกถึงขอบเขตการทำงานและความซับซ้อนของระบบ จำนวนเอนทิตีมากระบบก็จะยิ่งซับซ้อนและมีของเขตการทำงานมากขึ้นตามไปด้วย</a:t>
            </a:r>
          </a:p>
          <a:p>
            <a:pPr marL="0" indent="0">
              <a:buNone/>
            </a:pPr>
            <a:r>
              <a:rPr lang="th-TH" sz="2400" b="1" dirty="0"/>
              <a:t>		</a:t>
            </a:r>
          </a:p>
          <a:p>
            <a:pPr marL="0" indent="0">
              <a:buNone/>
            </a:pPr>
            <a:endParaRPr lang="th-TH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060" y="5482602"/>
            <a:ext cx="5054022" cy="123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0582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กระแสข้อมูล </a:t>
            </a:r>
            <a:r>
              <a:rPr lang="en-US" dirty="0"/>
              <a:t>(Data Flow) 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	</a:t>
            </a:r>
            <a:r>
              <a:rPr lang="th-TH" sz="2400" dirty="0"/>
              <a:t>เป็นสัญลักษณ์ที่แสดงถึงทิศทางการไหลของข้อมูลนำเข้าและข้อมูล/สารสนเทศที่เป็นผลลัพธ์ ที่เกี่ยวข้องกับกระบวนการทำงานหนึ่ง ๆ จะเชื่อมเพื่อแสดงความสัมพันธ์ระหว่างกระบวนการทำงานกับเอนทิตีภายนอก หรือกระบวนการทำงานกับแหล่งเก็บข้อมูล</a:t>
            </a:r>
          </a:p>
          <a:p>
            <a:pPr marL="0" indent="0">
              <a:buNone/>
            </a:pPr>
            <a:r>
              <a:rPr lang="th-TH" sz="2400" dirty="0"/>
              <a:t>			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053771" y="4019647"/>
            <a:ext cx="5029201" cy="1147496"/>
            <a:chOff x="2024742" y="4399607"/>
            <a:chExt cx="5029201" cy="1147496"/>
          </a:xfrm>
        </p:grpSpPr>
        <p:sp>
          <p:nvSpPr>
            <p:cNvPr id="6" name="Rectangle 5"/>
            <p:cNvSpPr/>
            <p:nvPr/>
          </p:nvSpPr>
          <p:spPr>
            <a:xfrm>
              <a:off x="2024742" y="4524829"/>
              <a:ext cx="1208314" cy="92528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800" b="1" dirty="0">
                  <a:solidFill>
                    <a:schemeClr val="tx1"/>
                  </a:solidFill>
                </a:rPr>
                <a:t>ลูกค้า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518435" y="4427841"/>
              <a:ext cx="1535508" cy="111926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000" b="1" dirty="0">
                  <a:solidFill>
                    <a:schemeClr val="tx1"/>
                  </a:solidFill>
                </a:rPr>
                <a:t>1</a:t>
              </a:r>
            </a:p>
            <a:p>
              <a:pPr algn="ctr"/>
              <a:r>
                <a:rPr lang="th-TH" sz="2000" b="1" dirty="0">
                  <a:solidFill>
                    <a:schemeClr val="tx1"/>
                  </a:solidFill>
                </a:rPr>
                <a:t>สมัครสมาชิก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3233056" y="4769757"/>
              <a:ext cx="228537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>
              <a:off x="3233055" y="5213274"/>
              <a:ext cx="228538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840983" y="4834188"/>
              <a:ext cx="10695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2000" b="1" dirty="0"/>
                <a:t>บัตรสมาชิก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892775" y="4399607"/>
              <a:ext cx="1079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2000" b="1" dirty="0"/>
                <a:t>ข้อมูลลูกค้า</a:t>
              </a:r>
            </a:p>
          </p:txBody>
        </p:sp>
      </p:grpSp>
      <p:cxnSp>
        <p:nvCxnSpPr>
          <p:cNvPr id="12" name="Straight Arrow Connector 11"/>
          <p:cNvCxnSpPr/>
          <p:nvPr/>
        </p:nvCxnSpPr>
        <p:spPr>
          <a:xfrm>
            <a:off x="3588152" y="3565003"/>
            <a:ext cx="281860" cy="7292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64423" y="3163213"/>
            <a:ext cx="1771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dirty="0"/>
              <a:t>กระแสข้อมูลนำเข้า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6874" y="5638478"/>
            <a:ext cx="2491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dirty="0"/>
              <a:t>กระแสข้อมูลสารสนเทศที่ได้</a:t>
            </a:r>
          </a:p>
        </p:txBody>
      </p:sp>
      <p:cxnSp>
        <p:nvCxnSpPr>
          <p:cNvPr id="16" name="Straight Arrow Connector 15"/>
          <p:cNvCxnSpPr>
            <a:stCxn id="15" idx="0"/>
          </p:cNvCxnSpPr>
          <p:nvPr/>
        </p:nvCxnSpPr>
        <p:spPr>
          <a:xfrm flipH="1" flipV="1">
            <a:off x="3991172" y="4861133"/>
            <a:ext cx="341396" cy="7773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3261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>
              <a:buNone/>
            </a:pPr>
            <a:r>
              <a:rPr lang="th-TH" dirty="0"/>
              <a:t>	</a:t>
            </a:r>
            <a:r>
              <a:rPr lang="th-TH" sz="2400" dirty="0"/>
              <a:t>หลักการกำหนดกระแสข้อมูล</a:t>
            </a:r>
          </a:p>
          <a:p>
            <a:pPr marL="0" indent="0">
              <a:buNone/>
            </a:pPr>
            <a:r>
              <a:rPr lang="th-TH" sz="2400" dirty="0"/>
              <a:t>		กระแสข้อมูลเป็นคำนามที่ระบุถึงสถานะที่ชัดเจน ณ ขณะนั้น ๆ เช่น ข้อมูลสินค้าที่ซื้อ ข้อมูลสินค้าที่จัดส่ง หรือข้อมูลที่ไม่ผ่านการตรวจสอบ เป็นต้น </a:t>
            </a:r>
          </a:p>
          <a:p>
            <a:pPr marL="0" indent="0">
              <a:buNone/>
            </a:pPr>
            <a:r>
              <a:rPr lang="th-TH" sz="2400" dirty="0"/>
              <a:t>		ไม่ควรใช้ ข้อมูลสินค้า ที่ไม่ระบุรายละเอียดใด ๆ เพราะผู้ที่ใช้ประโยชน์จากแผนภาพกระแสข้อมูลจะไม่สามารถเข้าใจว่า ณ ขณะนั้นระบบต้องการข้อมูลที่มีคุณสมบัติอย่างไร </a:t>
            </a:r>
            <a:endParaRPr lang="th-TH" dirty="0"/>
          </a:p>
        </p:txBody>
      </p:sp>
      <p:grpSp>
        <p:nvGrpSpPr>
          <p:cNvPr id="4" name="Group 3"/>
          <p:cNvGrpSpPr/>
          <p:nvPr/>
        </p:nvGrpSpPr>
        <p:grpSpPr>
          <a:xfrm>
            <a:off x="581192" y="4739537"/>
            <a:ext cx="5029201" cy="1119262"/>
            <a:chOff x="2024742" y="4427841"/>
            <a:chExt cx="5029201" cy="1119262"/>
          </a:xfrm>
        </p:grpSpPr>
        <p:sp>
          <p:nvSpPr>
            <p:cNvPr id="5" name="Rectangle 4"/>
            <p:cNvSpPr/>
            <p:nvPr/>
          </p:nvSpPr>
          <p:spPr>
            <a:xfrm>
              <a:off x="2024742" y="4524829"/>
              <a:ext cx="1208314" cy="92528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800" b="1" dirty="0">
                  <a:solidFill>
                    <a:schemeClr val="tx1"/>
                  </a:solidFill>
                </a:rPr>
                <a:t>ลูกค้า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518435" y="4427841"/>
              <a:ext cx="1535508" cy="111926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000" b="1" dirty="0">
                  <a:solidFill>
                    <a:schemeClr val="tx1"/>
                  </a:solidFill>
                </a:rPr>
                <a:t>1</a:t>
              </a:r>
            </a:p>
            <a:p>
              <a:pPr algn="ctr"/>
              <a:r>
                <a:rPr lang="th-TH" sz="2000" b="1" dirty="0">
                  <a:solidFill>
                    <a:schemeClr val="tx1"/>
                  </a:solidFill>
                </a:rPr>
                <a:t>รับคำสั่งซื้อ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3233056" y="4987472"/>
              <a:ext cx="228537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900271" y="4587362"/>
              <a:ext cx="8162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2000" b="1" dirty="0"/>
                <a:t>คำสั่งซื้อ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176450" y="4739537"/>
            <a:ext cx="5029201" cy="1119262"/>
            <a:chOff x="2024742" y="4427841"/>
            <a:chExt cx="5029201" cy="1119262"/>
          </a:xfrm>
        </p:grpSpPr>
        <p:sp>
          <p:nvSpPr>
            <p:cNvPr id="12" name="Rectangle 11"/>
            <p:cNvSpPr/>
            <p:nvPr/>
          </p:nvSpPr>
          <p:spPr>
            <a:xfrm>
              <a:off x="2024742" y="4524829"/>
              <a:ext cx="1208314" cy="92528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800" b="1" dirty="0">
                  <a:solidFill>
                    <a:schemeClr val="tx1"/>
                  </a:solidFill>
                </a:rPr>
                <a:t>ลูกค้า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518435" y="4427841"/>
              <a:ext cx="1535508" cy="111926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000" b="1" dirty="0">
                  <a:solidFill>
                    <a:schemeClr val="tx1"/>
                  </a:solidFill>
                </a:rPr>
                <a:t>2</a:t>
              </a:r>
            </a:p>
            <a:p>
              <a:pPr algn="ctr"/>
              <a:r>
                <a:rPr lang="th-TH" sz="2000" b="1" dirty="0">
                  <a:solidFill>
                    <a:schemeClr val="tx1"/>
                  </a:solidFill>
                </a:rPr>
                <a:t>คำนวณเงินค่าสินค้า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3233056" y="4987472"/>
              <a:ext cx="228537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3900271" y="4587362"/>
              <a:ext cx="14398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sz="2000" b="1" dirty="0"/>
                <a:t>ข้อมูลสินค้าที่ซื้อ</a:t>
              </a:r>
            </a:p>
          </p:txBody>
        </p:sp>
      </p:grpSp>
      <p:pic>
        <p:nvPicPr>
          <p:cNvPr id="1026" name="Picture 2" descr="ทำเครื่องหมายและกากบาทเครื่องหมายถูกสีเขียวก็โอเคและไอคอนสีแดง X ถูกแยกบนพื้นหลังสีขาวออกแบบกราฟิกง่าย  ๆ ใช่และไม่มีปุ่มสัญลักษณ์สำหรับการลงคะแนนการอนุมัติการตัดสินใจอนุมัติ,  ใช่ภาพตัดปะ, ไอคอนข้าม, ไอคอน Xภาพ PNG และ เวกเตอร์ สำหรับการดาวน์โหลดฟรี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6" t="34355" r="58315" b="34506"/>
          <a:stretch/>
        </p:blipFill>
        <p:spPr bwMode="auto">
          <a:xfrm>
            <a:off x="2458139" y="5699278"/>
            <a:ext cx="949531" cy="967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ทำเครื่องหมายและกากบาทเครื่องหมายถูกสีเขียวก็โอเคและไอคอนสีแดง X ถูกแยกบนพื้นหลังสีขาวออกแบบกราฟิกง่าย  ๆ ใช่และไม่มีปุ่มสัญลักษณ์สำหรับการลงคะแนนการอนุมัติการตัดสินใจอนุมัติ,  ใช่ภาพตัดปะ, ไอคอนข้าม, ไอคอน Xภาพ PNG และ เวกเตอร์ สำหรับการดาวน์โหลดฟรี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21" t="34208" r="10419" b="34273"/>
          <a:stretch/>
        </p:blipFill>
        <p:spPr bwMode="auto">
          <a:xfrm>
            <a:off x="8241175" y="5591267"/>
            <a:ext cx="1023812" cy="104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40777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แหล่งเก็บข้อมูล </a:t>
            </a:r>
            <a:r>
              <a:rPr lang="en-US" dirty="0"/>
              <a:t>(Data store)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	</a:t>
            </a:r>
            <a:r>
              <a:rPr lang="th-TH" sz="2400" dirty="0"/>
              <a:t>เป็นสัญลักษณ์ที่แสดงถึงแหล่งจัดเก็บข้อมูลทั้งในส่วนของข้อมูลนำเข้าและข้อมูล/สารสนเทศที่เป็นผลลัพธ์ 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066798" y="3324394"/>
            <a:ext cx="9568543" cy="1119262"/>
            <a:chOff x="1066798" y="3324394"/>
            <a:chExt cx="9568543" cy="1119262"/>
          </a:xfrm>
        </p:grpSpPr>
        <p:grpSp>
          <p:nvGrpSpPr>
            <p:cNvPr id="4" name="Group 3"/>
            <p:cNvGrpSpPr/>
            <p:nvPr/>
          </p:nvGrpSpPr>
          <p:grpSpPr>
            <a:xfrm>
              <a:off x="1066798" y="3324394"/>
              <a:ext cx="7266493" cy="1119262"/>
              <a:chOff x="2024742" y="4427841"/>
              <a:chExt cx="7266493" cy="1119262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2024742" y="4524829"/>
                <a:ext cx="1208314" cy="92528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h-TH" sz="2800" b="1" dirty="0">
                    <a:solidFill>
                      <a:schemeClr val="tx1"/>
                    </a:solidFill>
                  </a:rPr>
                  <a:t>ลูกค้า</a:t>
                </a:r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5518435" y="4427841"/>
                <a:ext cx="1535508" cy="1119262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th-TH" sz="2000" b="1" dirty="0">
                    <a:solidFill>
                      <a:schemeClr val="tx1"/>
                    </a:solidFill>
                  </a:rPr>
                  <a:t>1</a:t>
                </a:r>
              </a:p>
              <a:p>
                <a:pPr algn="ctr"/>
                <a:r>
                  <a:rPr lang="th-TH" sz="2000" b="1" dirty="0">
                    <a:solidFill>
                      <a:schemeClr val="tx1"/>
                    </a:solidFill>
                  </a:rPr>
                  <a:t>รับคำสั่งซื้อ</a:t>
                </a:r>
              </a:p>
            </p:txBody>
          </p:sp>
          <p:cxnSp>
            <p:nvCxnSpPr>
              <p:cNvPr id="7" name="Straight Arrow Connector 6"/>
              <p:cNvCxnSpPr/>
              <p:nvPr/>
            </p:nvCxnSpPr>
            <p:spPr>
              <a:xfrm>
                <a:off x="3233056" y="4987472"/>
                <a:ext cx="2285379" cy="0"/>
              </a:xfrm>
              <a:prstGeom prst="straightConnector1">
                <a:avLst/>
              </a:prstGeom>
              <a:ln w="28575">
                <a:solidFill>
                  <a:schemeClr val="accent1">
                    <a:lumMod val="40000"/>
                    <a:lumOff val="6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3900271" y="4587362"/>
                <a:ext cx="8162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sz="2000" b="1" dirty="0"/>
                  <a:t>คำสั่งซื้อ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8202475" y="4522932"/>
                <a:ext cx="10887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sz="2000" b="1" dirty="0"/>
                  <a:t>ข้อมูลสินค้า</a:t>
                </a:r>
              </a:p>
            </p:txBody>
          </p:sp>
        </p:grpSp>
        <p:cxnSp>
          <p:nvCxnSpPr>
            <p:cNvPr id="10" name="Straight Connector 9"/>
            <p:cNvCxnSpPr/>
            <p:nvPr/>
          </p:nvCxnSpPr>
          <p:spPr>
            <a:xfrm flipV="1">
              <a:off x="9307284" y="3602711"/>
              <a:ext cx="1328057" cy="108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9335066" y="3961157"/>
              <a:ext cx="1262743" cy="217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9547157" y="3613597"/>
              <a:ext cx="8483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แฟ้มสินค้า</a:t>
              </a:r>
            </a:p>
          </p:txBody>
        </p:sp>
        <p:cxnSp>
          <p:nvCxnSpPr>
            <p:cNvPr id="15" name="Straight Arrow Connector 14"/>
            <p:cNvCxnSpPr>
              <a:endCxn id="6" idx="6"/>
            </p:cNvCxnSpPr>
            <p:nvPr/>
          </p:nvCxnSpPr>
          <p:spPr>
            <a:xfrm flipH="1">
              <a:off x="6095999" y="3884025"/>
              <a:ext cx="3113315" cy="0"/>
            </a:xfrm>
            <a:prstGeom prst="straightConnector1">
              <a:avLst/>
            </a:prstGeom>
            <a:ln w="28575">
              <a:solidFill>
                <a:schemeClr val="accent1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 flipV="1">
            <a:off x="9421792" y="4019647"/>
            <a:ext cx="335666" cy="86486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78401" y="5003081"/>
            <a:ext cx="186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800" b="1" dirty="0"/>
              <a:t>แหล่งเก็บข้อมูล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25633086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กฎในการสร้างแผนภาพกระแสข้อมูล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th-TH" sz="2400" dirty="0"/>
              <a:t>1. แต่ละกระบวนการทำงานจะต้องมีกระแสข้อมูลเข้า </a:t>
            </a:r>
            <a:r>
              <a:rPr lang="en-US" sz="2400" dirty="0"/>
              <a:t>(Input) </a:t>
            </a:r>
            <a:r>
              <a:rPr lang="th-TH" sz="2400" dirty="0"/>
              <a:t>โดยอาจจะมาจากเอนทิตีภายนอก แหล่งเก็บข้อมูล หรือกระบวนการทำงานอื่น ๆ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7142" t="30688" r="49286" b="48783"/>
          <a:stretch/>
        </p:blipFill>
        <p:spPr>
          <a:xfrm>
            <a:off x="1117599" y="3315703"/>
            <a:ext cx="8245224" cy="218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689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กฎในการสร้างแผนภาพกระแสข้อมูล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th-TH" sz="2400" dirty="0"/>
              <a:t>2.  แต่ละกระบวนการทำงานจะต้องมีกระแสข้อมูลที่เป็นผลลัพธ์ </a:t>
            </a:r>
            <a:r>
              <a:rPr lang="en-US" sz="2400" dirty="0"/>
              <a:t>(Output)</a:t>
            </a:r>
            <a:r>
              <a:rPr lang="th-TH" sz="2400" dirty="0"/>
              <a:t> โดยอาจส่งไปยังเอนทิตีภายนอก แหล่งจัดเก็บข้อมูล หรือกระบวนการทำงานอื่น ๆ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9465" t="34603" r="46428" b="44603"/>
          <a:stretch/>
        </p:blipFill>
        <p:spPr>
          <a:xfrm>
            <a:off x="1404258" y="3306632"/>
            <a:ext cx="7932538" cy="210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457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กฎในการสร้างแผนภาพกระแสข้อมูล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203834"/>
            <a:ext cx="11029615" cy="367830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th-TH" sz="2400" dirty="0"/>
              <a:t>3.  เอนทิตีภายนอกจะดำเนินการรับ-ส่งข้อมูลระหว่างกันโดยไม่ผ่านกระบวนการทำงานไม่ได้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9733" t="33016" r="46606" b="49206"/>
          <a:stretch/>
        </p:blipFill>
        <p:spPr>
          <a:xfrm>
            <a:off x="990600" y="2727599"/>
            <a:ext cx="8100308" cy="18552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854677" y="5184861"/>
            <a:ext cx="1475509" cy="10390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ลูกค้า</a:t>
            </a:r>
          </a:p>
        </p:txBody>
      </p:sp>
      <p:cxnSp>
        <p:nvCxnSpPr>
          <p:cNvPr id="8" name="Straight Arrow Connector 7"/>
          <p:cNvCxnSpPr>
            <a:stCxn id="5" idx="3"/>
          </p:cNvCxnSpPr>
          <p:nvPr/>
        </p:nvCxnSpPr>
        <p:spPr>
          <a:xfrm>
            <a:off x="5330186" y="5704407"/>
            <a:ext cx="2016187" cy="10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9310253" y="3396154"/>
            <a:ext cx="20781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9310253" y="2835045"/>
            <a:ext cx="20781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01198" y="2886436"/>
            <a:ext cx="1205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แฟ้มลูกค้า</a:t>
            </a:r>
          </a:p>
        </p:txBody>
      </p:sp>
      <p:sp>
        <p:nvSpPr>
          <p:cNvPr id="22" name="Oval 21"/>
          <p:cNvSpPr/>
          <p:nvPr/>
        </p:nvSpPr>
        <p:spPr>
          <a:xfrm>
            <a:off x="7346373" y="5039591"/>
            <a:ext cx="1963880" cy="13819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สั่งซื้อสินค้า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9910" y="5217554"/>
            <a:ext cx="995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คำสั่งซื้อ</a:t>
            </a:r>
          </a:p>
        </p:txBody>
      </p:sp>
    </p:spTree>
    <p:extLst>
      <p:ext uri="{BB962C8B-B14F-4D97-AF65-F5344CB8AC3E}">
        <p14:creationId xmlns:p14="http://schemas.microsoft.com/office/powerpoint/2010/main" val="37175568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กฎในการสร้างแผนภาพกระแสข้อมูล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th-TH" sz="2400" dirty="0"/>
              <a:t>4.  แหล่งจัดเก็บข้อมูลจะดำเนินการรับ-ส่งข้อมูลระหว่างกันโดยไม่ผ่านกระบวนการทำงานไม่ได้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9910" t="42700" r="46876" b="40475"/>
          <a:stretch/>
        </p:blipFill>
        <p:spPr>
          <a:xfrm>
            <a:off x="1208313" y="2928256"/>
            <a:ext cx="7903027" cy="173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661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กฎในการสร้างแผนภาพกระแสข้อมูล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th-TH" sz="2400" dirty="0"/>
              <a:t>5. เอนทิตีภายนอกจะดำเนินการรับ-ส่งข้อมูลกับแหล่งจัดเก็บข้อมูลโดยไม่ผ่านกระบวนการทำงานไม่ได้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9822" t="54286" r="46785" b="25555"/>
          <a:stretch/>
        </p:blipFill>
        <p:spPr>
          <a:xfrm>
            <a:off x="914400" y="2786743"/>
            <a:ext cx="8164798" cy="2133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576" y="4303474"/>
            <a:ext cx="6370872" cy="24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523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กฎในการสร้างแผนภาพกระแสข้อมูล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th-TH" sz="2400" dirty="0"/>
              <a:t>6. กระแสข้อมูลจะต้องมีทิศทางในการไหลไปยังเป้าหมายเพียงทิศทางเดียวเท่านั้น การใช้ลูกศร 2 ทางกำกับทางการไหลของกระแสข้อมูลไม่ถูกต้อง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965" t="32857" r="49464" b="48889"/>
          <a:stretch/>
        </p:blipFill>
        <p:spPr>
          <a:xfrm>
            <a:off x="957942" y="3069772"/>
            <a:ext cx="8037625" cy="189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360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กฎในการสร้างแผนภาพกระแสข้อมูล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th-TH" sz="2400" dirty="0"/>
              <a:t>7. กระแสข้อมูลที่แตกแขนงออกเป็นหลายทิศทางเป็นสิ่งที่ไม่ถูกต้อง ควรเป็น 2 เส้นที่เป็นอิสระต่อกัน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876" t="45079" r="49463" b="35873"/>
          <a:stretch/>
        </p:blipFill>
        <p:spPr>
          <a:xfrm>
            <a:off x="1045028" y="2797628"/>
            <a:ext cx="8029025" cy="197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542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กฎในการสร้างแผนภาพกระแสข้อมูล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th-TH" sz="2400" dirty="0"/>
              <a:t>8. กระแสข้อมูลในแผนภาพหนึ่ง ๆ จะต้องไม่มีเส้นใดที่ตัดพาดผ่านกันเอง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9822" t="37302" r="46785" b="23492"/>
          <a:stretch/>
        </p:blipFill>
        <p:spPr>
          <a:xfrm>
            <a:off x="1164772" y="2775856"/>
            <a:ext cx="6651172" cy="338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52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 dirty="0"/>
              <a:t>กฎในการสร้างแผนภาพกระแสข้อมูล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th-TH" sz="2400" dirty="0"/>
              <a:t>9. กระแสข้อมูลจะไม่สามารถไหลย้อนกลับไปสู่กระบวนการทำงานที่ทำให้เกิดกระแสข้อมูลดังกล่าวได้โดยตรง แต่สามารถไหลไปในกระบวนการอื่นแล้วค่อยย้อนกลับมายังกระบวนการทำงานเดิมได้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9733" t="47302" r="46606" b="27302"/>
          <a:stretch/>
        </p:blipFill>
        <p:spPr>
          <a:xfrm>
            <a:off x="1186543" y="3243942"/>
            <a:ext cx="7119666" cy="232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367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65" y="716010"/>
            <a:ext cx="11029616" cy="1013800"/>
          </a:xfrm>
        </p:spPr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สัญลักษณ์ที่ใช้ในแผนภาพกระแสข้อมูล (</a:t>
            </a:r>
            <a:r>
              <a:rPr lang="en-US" sz="4000" dirty="0" err="1">
                <a:latin typeface="Kanit" pitchFamily="2" charset="-34"/>
                <a:cs typeface="Kanit" pitchFamily="2" charset="-34"/>
              </a:rPr>
              <a:t>Gane</a:t>
            </a:r>
            <a:r>
              <a:rPr lang="en-US" sz="4000" dirty="0">
                <a:latin typeface="Kanit" pitchFamily="2" charset="-34"/>
                <a:cs typeface="Kanit" pitchFamily="2" charset="-34"/>
              </a:rPr>
              <a:t> &amp; </a:t>
            </a:r>
            <a:r>
              <a:rPr lang="en-US" sz="4000" dirty="0" err="1">
                <a:latin typeface="Kanit" pitchFamily="2" charset="-34"/>
                <a:cs typeface="Kanit" pitchFamily="2" charset="-34"/>
              </a:rPr>
              <a:t>Sarson</a:t>
            </a:r>
            <a:r>
              <a:rPr lang="en-US" sz="4000" dirty="0">
                <a:latin typeface="Kanit" pitchFamily="2" charset="-34"/>
                <a:cs typeface="Kanit" pitchFamily="2" charset="-34"/>
              </a:rPr>
              <a:t>)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321850"/>
              </p:ext>
            </p:extLst>
          </p:nvPr>
        </p:nvGraphicFramePr>
        <p:xfrm>
          <a:off x="443347" y="1870364"/>
          <a:ext cx="11292153" cy="4793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68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8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586">
                <a:tc>
                  <a:txBody>
                    <a:bodyPr/>
                    <a:lstStyle/>
                    <a:p>
                      <a:pPr algn="ctr"/>
                      <a:r>
                        <a:rPr lang="th-TH" sz="2000" b="1" dirty="0">
                          <a:latin typeface="Kanit" pitchFamily="2" charset="-34"/>
                          <a:cs typeface="Kanit" pitchFamily="2" charset="-34"/>
                        </a:rPr>
                        <a:t>สัญลักษณ์</a:t>
                      </a:r>
                      <a:endParaRPr lang="en-US" sz="2000" b="1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b="1" dirty="0">
                          <a:latin typeface="Kanit" pitchFamily="2" charset="-34"/>
                          <a:cs typeface="Kanit" pitchFamily="2" charset="-34"/>
                        </a:rPr>
                        <a:t>ความหมาย</a:t>
                      </a:r>
                      <a:endParaRPr lang="en-US" sz="2000" b="1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b="1" dirty="0">
                          <a:latin typeface="Kanit" pitchFamily="2" charset="-34"/>
                          <a:cs typeface="Kanit" pitchFamily="2" charset="-34"/>
                        </a:rPr>
                        <a:t>คำอธิบาย</a:t>
                      </a:r>
                      <a:endParaRPr lang="en-US" sz="2000" b="1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218">
                <a:tc>
                  <a:txBody>
                    <a:bodyPr/>
                    <a:lstStyle/>
                    <a:p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Process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การประมวลผล</a:t>
                      </a:r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6218">
                <a:tc>
                  <a:txBody>
                    <a:bodyPr/>
                    <a:lstStyle/>
                    <a:p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Data</a:t>
                      </a:r>
                      <a:r>
                        <a:rPr lang="en-US" sz="2000" baseline="0" dirty="0">
                          <a:latin typeface="Kanit" pitchFamily="2" charset="-34"/>
                          <a:cs typeface="Kanit" pitchFamily="2" charset="-34"/>
                        </a:rPr>
                        <a:t> Flow</a:t>
                      </a:r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กระแสข้อมูล</a:t>
                      </a:r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6218">
                <a:tc>
                  <a:txBody>
                    <a:bodyPr/>
                    <a:lstStyle/>
                    <a:p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External</a:t>
                      </a:r>
                      <a:r>
                        <a:rPr lang="en-US" sz="2000" baseline="0" dirty="0">
                          <a:latin typeface="Kanit" pitchFamily="2" charset="-34"/>
                          <a:cs typeface="Kanit" pitchFamily="2" charset="-34"/>
                        </a:rPr>
                        <a:t> Entity</a:t>
                      </a:r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แหล่งที่มา/ปลายทางหรือสิ่งที่อยู่นอกขอบเขตระบบ</a:t>
                      </a:r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6218">
                <a:tc>
                  <a:txBody>
                    <a:bodyPr/>
                    <a:lstStyle/>
                    <a:p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Data</a:t>
                      </a:r>
                      <a:r>
                        <a:rPr lang="en-US" sz="2000" baseline="0" dirty="0">
                          <a:latin typeface="Kanit" pitchFamily="2" charset="-34"/>
                          <a:cs typeface="Kanit" pitchFamily="2" charset="-34"/>
                        </a:rPr>
                        <a:t> Store</a:t>
                      </a:r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แหล่งเก็บข้อมูล</a:t>
                      </a:r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6218">
                <a:tc>
                  <a:txBody>
                    <a:bodyPr/>
                    <a:lstStyle/>
                    <a:p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Real-Time Link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การเชื่อมโยงสื่อสารระยะไกล</a:t>
                      </a:r>
                    </a:p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ที่มีการโต้ตอบกันแบบทันทีทันใด</a:t>
                      </a:r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6" name="Group 25"/>
          <p:cNvGrpSpPr/>
          <p:nvPr/>
        </p:nvGrpSpPr>
        <p:grpSpPr>
          <a:xfrm>
            <a:off x="1510791" y="2357452"/>
            <a:ext cx="1426378" cy="727691"/>
            <a:chOff x="1115616" y="1844824"/>
            <a:chExt cx="1296144" cy="864096"/>
          </a:xfrm>
        </p:grpSpPr>
        <p:sp>
          <p:nvSpPr>
            <p:cNvPr id="27" name="Rounded Rectangle 26"/>
            <p:cNvSpPr/>
            <p:nvPr/>
          </p:nvSpPr>
          <p:spPr>
            <a:xfrm>
              <a:off x="1115616" y="1844824"/>
              <a:ext cx="1296144" cy="86409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1115616" y="2060848"/>
              <a:ext cx="1296144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" name="Straight Arrow Connector 28"/>
          <p:cNvCxnSpPr/>
          <p:nvPr/>
        </p:nvCxnSpPr>
        <p:spPr>
          <a:xfrm>
            <a:off x="1455371" y="3589789"/>
            <a:ext cx="158417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600531" y="4182441"/>
            <a:ext cx="129614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1424731" y="5168314"/>
            <a:ext cx="1674113" cy="360040"/>
            <a:chOff x="953671" y="5085184"/>
            <a:chExt cx="1674113" cy="360040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71600" y="5085184"/>
              <a:ext cx="165618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953671" y="5427004"/>
              <a:ext cx="165618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971600" y="5085184"/>
              <a:ext cx="0" cy="36004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1331640" y="5085184"/>
              <a:ext cx="0" cy="36004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1416855" y="5995828"/>
            <a:ext cx="1646385" cy="440661"/>
            <a:chOff x="945795" y="5995828"/>
            <a:chExt cx="1646385" cy="440661"/>
          </a:xfrm>
        </p:grpSpPr>
        <p:cxnSp>
          <p:nvCxnSpPr>
            <p:cNvPr id="37" name="Straight Arrow Connector 36"/>
            <p:cNvCxnSpPr/>
            <p:nvPr/>
          </p:nvCxnSpPr>
          <p:spPr>
            <a:xfrm flipH="1">
              <a:off x="945795" y="6001697"/>
              <a:ext cx="936104" cy="43479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>
              <a:off x="1752509" y="5995828"/>
              <a:ext cx="123874" cy="38549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V="1">
              <a:off x="1734834" y="6013004"/>
              <a:ext cx="857346" cy="35114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8592789"/>
      </p:ext>
    </p:extLst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65" y="716010"/>
            <a:ext cx="11029616" cy="1013800"/>
          </a:xfrm>
        </p:spPr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เริ่มต้นการเขียน </a:t>
            </a:r>
            <a:r>
              <a:rPr lang="en-US" sz="4000" dirty="0">
                <a:latin typeface="Kanit" pitchFamily="2" charset="-34"/>
                <a:cs typeface="Kanit" pitchFamily="2" charset="-34"/>
              </a:rPr>
              <a:t>Context Diagram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94507" y="2105889"/>
            <a:ext cx="11319163" cy="396956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ต้องรู้ผู้ใช้งานระบบ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ต้องรู้กระบวนการทำงาน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ต้องรู้ว่าใช้ข้อมูลอะไรบ้าง</a:t>
            </a:r>
          </a:p>
        </p:txBody>
      </p:sp>
    </p:spTree>
    <p:extLst>
      <p:ext uri="{BB962C8B-B14F-4D97-AF65-F5344CB8AC3E}">
        <p14:creationId xmlns:p14="http://schemas.microsoft.com/office/powerpoint/2010/main" val="3982111555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66367" y="5926859"/>
            <a:ext cx="2133600" cy="365125"/>
          </a:xfrm>
        </p:spPr>
        <p:txBody>
          <a:bodyPr/>
          <a:lstStyle/>
          <a:p>
            <a:fld id="{97D22102-4FAC-46A0-A34F-FF174803DF19}" type="slidenum">
              <a:rPr lang="th-TH" sz="600" smtClean="0">
                <a:latin typeface="Kanit" pitchFamily="2" charset="-34"/>
                <a:cs typeface="Kanit" pitchFamily="2" charset="-34"/>
              </a:rPr>
              <a:pPr/>
              <a:t>56</a:t>
            </a:fld>
            <a:endParaRPr lang="th-TH" sz="600" dirty="0">
              <a:latin typeface="Kanit" pitchFamily="2" charset="-34"/>
              <a:cs typeface="Kanit" pitchFamily="2" charset="-34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905047" y="2855493"/>
            <a:ext cx="1944216" cy="1584176"/>
            <a:chOff x="3491880" y="3284984"/>
            <a:chExt cx="1944216" cy="1584176"/>
          </a:xfrm>
        </p:grpSpPr>
        <p:grpSp>
          <p:nvGrpSpPr>
            <p:cNvPr id="4" name="Group 3"/>
            <p:cNvGrpSpPr/>
            <p:nvPr/>
          </p:nvGrpSpPr>
          <p:grpSpPr>
            <a:xfrm>
              <a:off x="3491880" y="3284984"/>
              <a:ext cx="1944216" cy="1584176"/>
              <a:chOff x="3491880" y="3284984"/>
              <a:chExt cx="1944216" cy="1584176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3491880" y="3284984"/>
                <a:ext cx="1944216" cy="158417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sz="1800">
                  <a:latin typeface="Kanit" pitchFamily="2" charset="-34"/>
                  <a:cs typeface="Kanit" pitchFamily="2" charset="-34"/>
                </a:endParaRPr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3491880" y="3717032"/>
                <a:ext cx="194421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" name="TextBox 4"/>
            <p:cNvSpPr txBox="1"/>
            <p:nvPr/>
          </p:nvSpPr>
          <p:spPr>
            <a:xfrm>
              <a:off x="3707904" y="3933056"/>
              <a:ext cx="15121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dirty="0">
                  <a:latin typeface="Kanit" pitchFamily="2" charset="-34"/>
                  <a:cs typeface="Kanit" pitchFamily="2" charset="-34"/>
                </a:rPr>
                <a:t>ชื่อระบบ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1736695" y="1127301"/>
            <a:ext cx="2088232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Kanit" pitchFamily="2" charset="-34"/>
                <a:cs typeface="Kanit" pitchFamily="2" charset="-34"/>
              </a:rPr>
              <a:t>External Entity1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45407" y="1159062"/>
            <a:ext cx="2088232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Kanit" pitchFamily="2" charset="-34"/>
                <a:cs typeface="Kanit" pitchFamily="2" charset="-34"/>
              </a:rPr>
              <a:t>External Entity2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45407" y="5303765"/>
            <a:ext cx="2088232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Kanit" pitchFamily="2" charset="-34"/>
                <a:cs typeface="Kanit" pitchFamily="2" charset="-34"/>
              </a:rPr>
              <a:t>External Entity4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cxnSp>
        <p:nvCxnSpPr>
          <p:cNvPr id="11" name="Elbow Connector 10"/>
          <p:cNvCxnSpPr>
            <a:stCxn id="8" idx="3"/>
          </p:cNvCxnSpPr>
          <p:nvPr/>
        </p:nvCxnSpPr>
        <p:spPr>
          <a:xfrm>
            <a:off x="3824927" y="1595353"/>
            <a:ext cx="1890210" cy="1260140"/>
          </a:xfrm>
          <a:prstGeom prst="bentConnector3">
            <a:avLst>
              <a:gd name="adj1" fmla="val 99864"/>
            </a:avLst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6" idx="1"/>
            <a:endCxn id="8" idx="2"/>
          </p:cNvCxnSpPr>
          <p:nvPr/>
        </p:nvCxnSpPr>
        <p:spPr>
          <a:xfrm rot="10800000">
            <a:off x="2780811" y="2063405"/>
            <a:ext cx="2124236" cy="1584176"/>
          </a:xfrm>
          <a:prstGeom prst="bentConnector2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9" idx="1"/>
          </p:cNvCxnSpPr>
          <p:nvPr/>
        </p:nvCxnSpPr>
        <p:spPr>
          <a:xfrm rot="10800000" flipV="1">
            <a:off x="5877155" y="1627113"/>
            <a:ext cx="2268252" cy="1242269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6" idx="3"/>
            <a:endCxn id="9" idx="2"/>
          </p:cNvCxnSpPr>
          <p:nvPr/>
        </p:nvCxnSpPr>
        <p:spPr>
          <a:xfrm flipV="1">
            <a:off x="6849263" y="2095166"/>
            <a:ext cx="2340260" cy="1552415"/>
          </a:xfrm>
          <a:prstGeom prst="bentConnector2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endCxn id="18" idx="0"/>
          </p:cNvCxnSpPr>
          <p:nvPr/>
        </p:nvCxnSpPr>
        <p:spPr>
          <a:xfrm rot="10800000" flipV="1">
            <a:off x="2780811" y="3826730"/>
            <a:ext cx="2124236" cy="1445274"/>
          </a:xfrm>
          <a:prstGeom prst="bentConnector2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endCxn id="10" idx="0"/>
          </p:cNvCxnSpPr>
          <p:nvPr/>
        </p:nvCxnSpPr>
        <p:spPr>
          <a:xfrm>
            <a:off x="6849263" y="3826730"/>
            <a:ext cx="2340260" cy="1477035"/>
          </a:xfrm>
          <a:prstGeom prst="bentConnector2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3639303" y="4439669"/>
            <a:ext cx="2052228" cy="1300387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736695" y="5272004"/>
            <a:ext cx="2088232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Kanit" pitchFamily="2" charset="-34"/>
                <a:cs typeface="Kanit" pitchFamily="2" charset="-34"/>
              </a:rPr>
              <a:t>External Entity3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cxnSp>
        <p:nvCxnSpPr>
          <p:cNvPr id="19" name="Elbow Connector 18"/>
          <p:cNvCxnSpPr>
            <a:stCxn id="10" idx="1"/>
            <a:endCxn id="6" idx="2"/>
          </p:cNvCxnSpPr>
          <p:nvPr/>
        </p:nvCxnSpPr>
        <p:spPr>
          <a:xfrm rot="10800000">
            <a:off x="5877155" y="4439669"/>
            <a:ext cx="2268252" cy="1332148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89023" y="1559349"/>
            <a:ext cx="1080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input1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input2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input3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80810" y="2334014"/>
            <a:ext cx="1311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output1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output2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output3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21543" y="1559349"/>
            <a:ext cx="1080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input1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input2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input3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85638" y="2351437"/>
            <a:ext cx="1311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output1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output2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output3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89023" y="4439669"/>
            <a:ext cx="1080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input1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input2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input3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01062" y="3775915"/>
            <a:ext cx="1311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output1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output2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output3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13159" y="4495995"/>
            <a:ext cx="1080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input1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input2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input3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01391" y="3775915"/>
            <a:ext cx="1311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output1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output2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output3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592078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8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49496" y="5940713"/>
            <a:ext cx="2133600" cy="365125"/>
          </a:xfrm>
        </p:spPr>
        <p:txBody>
          <a:bodyPr/>
          <a:lstStyle/>
          <a:p>
            <a:fld id="{97D22102-4FAC-46A0-A34F-FF174803DF19}" type="slidenum">
              <a:rPr lang="th-TH" sz="700" smtClean="0">
                <a:latin typeface="Kanit" pitchFamily="2" charset="-34"/>
                <a:cs typeface="Kanit" pitchFamily="2" charset="-34"/>
              </a:rPr>
              <a:pPr/>
              <a:t>57</a:t>
            </a:fld>
            <a:endParaRPr lang="th-TH" sz="700" dirty="0">
              <a:latin typeface="Kanit" pitchFamily="2" charset="-34"/>
              <a:cs typeface="Kanit" pitchFamily="2" charset="-34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988176" y="2869347"/>
            <a:ext cx="1944216" cy="1584176"/>
            <a:chOff x="3491880" y="3284984"/>
            <a:chExt cx="1944216" cy="1584176"/>
          </a:xfrm>
        </p:grpSpPr>
        <p:grpSp>
          <p:nvGrpSpPr>
            <p:cNvPr id="4" name="Group 3"/>
            <p:cNvGrpSpPr/>
            <p:nvPr/>
          </p:nvGrpSpPr>
          <p:grpSpPr>
            <a:xfrm>
              <a:off x="3491880" y="3284984"/>
              <a:ext cx="1944216" cy="1584176"/>
              <a:chOff x="3491880" y="3284984"/>
              <a:chExt cx="1944216" cy="1584176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3491880" y="3284984"/>
                <a:ext cx="1944216" cy="158417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sz="2000">
                  <a:latin typeface="Kanit" pitchFamily="2" charset="-34"/>
                  <a:cs typeface="Kanit" pitchFamily="2" charset="-34"/>
                </a:endParaRPr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3491880" y="3717032"/>
                <a:ext cx="194421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" name="TextBox 4"/>
            <p:cNvSpPr txBox="1"/>
            <p:nvPr/>
          </p:nvSpPr>
          <p:spPr>
            <a:xfrm>
              <a:off x="3707904" y="3933056"/>
              <a:ext cx="15121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800" dirty="0">
                  <a:latin typeface="Kanit" pitchFamily="2" charset="-34"/>
                  <a:cs typeface="Kanit" pitchFamily="2" charset="-34"/>
                </a:rPr>
                <a:t>ระบบประเมินผู้สอนออนไลน์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1819824" y="1141155"/>
            <a:ext cx="2088232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>
                <a:latin typeface="Kanit" pitchFamily="2" charset="-34"/>
                <a:cs typeface="Kanit" pitchFamily="2" charset="-34"/>
              </a:rPr>
              <a:t>นักศึกษา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8536" y="1172916"/>
            <a:ext cx="2088232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>
                <a:latin typeface="Kanit" pitchFamily="2" charset="-34"/>
                <a:cs typeface="Kanit" pitchFamily="2" charset="-34"/>
              </a:rPr>
              <a:t>อาจารย์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8536" y="5317619"/>
            <a:ext cx="2088232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>
                <a:latin typeface="Kanit" pitchFamily="2" charset="-34"/>
                <a:cs typeface="Kanit" pitchFamily="2" charset="-34"/>
              </a:rPr>
              <a:t>เจ้าหน้าที่</a:t>
            </a:r>
          </a:p>
          <a:p>
            <a:pPr algn="ctr"/>
            <a:r>
              <a:rPr lang="th-TH" sz="2000" dirty="0">
                <a:latin typeface="Kanit" pitchFamily="2" charset="-34"/>
                <a:cs typeface="Kanit" pitchFamily="2" charset="-34"/>
              </a:rPr>
              <a:t>งานทะเบียน</a:t>
            </a:r>
          </a:p>
        </p:txBody>
      </p:sp>
      <p:cxnSp>
        <p:nvCxnSpPr>
          <p:cNvPr id="11" name="Elbow Connector 10"/>
          <p:cNvCxnSpPr>
            <a:stCxn id="8" idx="3"/>
          </p:cNvCxnSpPr>
          <p:nvPr/>
        </p:nvCxnSpPr>
        <p:spPr>
          <a:xfrm>
            <a:off x="3908056" y="1609207"/>
            <a:ext cx="1890210" cy="1260140"/>
          </a:xfrm>
          <a:prstGeom prst="bentConnector3">
            <a:avLst>
              <a:gd name="adj1" fmla="val 99864"/>
            </a:avLst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6" idx="1"/>
            <a:endCxn id="8" idx="2"/>
          </p:cNvCxnSpPr>
          <p:nvPr/>
        </p:nvCxnSpPr>
        <p:spPr>
          <a:xfrm rot="10800000">
            <a:off x="2863940" y="2077259"/>
            <a:ext cx="2124236" cy="1584176"/>
          </a:xfrm>
          <a:prstGeom prst="bentConnector2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9" idx="1"/>
          </p:cNvCxnSpPr>
          <p:nvPr/>
        </p:nvCxnSpPr>
        <p:spPr>
          <a:xfrm rot="10800000" flipV="1">
            <a:off x="5960284" y="1640967"/>
            <a:ext cx="2268252" cy="1242269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6" idx="3"/>
            <a:endCxn id="9" idx="2"/>
          </p:cNvCxnSpPr>
          <p:nvPr/>
        </p:nvCxnSpPr>
        <p:spPr>
          <a:xfrm flipV="1">
            <a:off x="6932392" y="2109020"/>
            <a:ext cx="2340260" cy="1552415"/>
          </a:xfrm>
          <a:prstGeom prst="bentConnector2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endCxn id="10" idx="0"/>
          </p:cNvCxnSpPr>
          <p:nvPr/>
        </p:nvCxnSpPr>
        <p:spPr>
          <a:xfrm>
            <a:off x="6932392" y="3840584"/>
            <a:ext cx="2340260" cy="1477035"/>
          </a:xfrm>
          <a:prstGeom prst="bentConnector2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10" idx="1"/>
            <a:endCxn id="6" idx="2"/>
          </p:cNvCxnSpPr>
          <p:nvPr/>
        </p:nvCxnSpPr>
        <p:spPr>
          <a:xfrm rot="10800000">
            <a:off x="5960284" y="4453523"/>
            <a:ext cx="2268252" cy="1332148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8617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65" y="716010"/>
            <a:ext cx="11029616" cy="1013800"/>
          </a:xfrm>
        </p:spPr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กิจกรรมกลุ่ม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99852" y="1260762"/>
            <a:ext cx="10724114" cy="396956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จงวาด </a:t>
            </a:r>
            <a:r>
              <a:rPr lang="en-US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Context Diagram </a:t>
            </a: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ระบบ งานกลุ่ม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นำเสนอในชั้นเรียน</a:t>
            </a:r>
          </a:p>
        </p:txBody>
      </p:sp>
    </p:spTree>
    <p:extLst>
      <p:ext uri="{BB962C8B-B14F-4D97-AF65-F5344CB8AC3E}">
        <p14:creationId xmlns:p14="http://schemas.microsoft.com/office/powerpoint/2010/main" val="689202636"/>
      </p:ext>
    </p:extLst>
  </p:cSld>
  <p:clrMapOvr>
    <a:masterClrMapping/>
  </p:clrMapOvr>
  <p:transition spd="slow"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65" y="716010"/>
            <a:ext cx="11029616" cy="1013800"/>
          </a:xfrm>
        </p:spPr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การเขียน </a:t>
            </a:r>
            <a:r>
              <a:rPr lang="en-US" sz="4000" dirty="0">
                <a:latin typeface="Kanit" pitchFamily="2" charset="-34"/>
                <a:cs typeface="Kanit" pitchFamily="2" charset="-34"/>
              </a:rPr>
              <a:t>DFD Fragment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110324" y="3392648"/>
            <a:ext cx="2880320" cy="1919640"/>
            <a:chOff x="611560" y="2661488"/>
            <a:chExt cx="2736304" cy="1710189"/>
          </a:xfrm>
        </p:grpSpPr>
        <p:sp>
          <p:nvSpPr>
            <p:cNvPr id="6" name="Rounded Rectangle 5"/>
            <p:cNvSpPr/>
            <p:nvPr/>
          </p:nvSpPr>
          <p:spPr>
            <a:xfrm>
              <a:off x="611560" y="2661488"/>
              <a:ext cx="2736304" cy="171018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sz="2000" dirty="0">
                <a:latin typeface="Kanit" pitchFamily="2" charset="-34"/>
                <a:cs typeface="Kanit" pitchFamily="2" charset="-34"/>
              </a:endParaRPr>
            </a:p>
            <a:p>
              <a:pPr algn="ctr"/>
              <a:r>
                <a:rPr lang="th-TH" sz="2000" dirty="0">
                  <a:latin typeface="Kanit" pitchFamily="2" charset="-34"/>
                  <a:cs typeface="Kanit" pitchFamily="2" charset="-34"/>
                </a:rPr>
                <a:t>ระบบประเมินผู้สอนออนไลน์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611560" y="3068960"/>
              <a:ext cx="273630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6110349" y="2123824"/>
            <a:ext cx="1949607" cy="1356808"/>
            <a:chOff x="611560" y="2661488"/>
            <a:chExt cx="2736304" cy="1710189"/>
          </a:xfrm>
        </p:grpSpPr>
        <p:sp>
          <p:nvSpPr>
            <p:cNvPr id="9" name="Rounded Rectangle 8"/>
            <p:cNvSpPr/>
            <p:nvPr/>
          </p:nvSpPr>
          <p:spPr>
            <a:xfrm>
              <a:off x="611560" y="2661488"/>
              <a:ext cx="2736304" cy="171018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Kanit" pitchFamily="2" charset="-34"/>
                  <a:cs typeface="Kanit" pitchFamily="2" charset="-34"/>
                </a:rPr>
                <a:t>1</a:t>
              </a:r>
            </a:p>
            <a:p>
              <a:pPr algn="ctr"/>
              <a:endParaRPr lang="th-TH" sz="2000" dirty="0">
                <a:latin typeface="Kanit" pitchFamily="2" charset="-34"/>
                <a:cs typeface="Kanit" pitchFamily="2" charset="-34"/>
              </a:endParaRPr>
            </a:p>
            <a:p>
              <a:pPr algn="ctr"/>
              <a:r>
                <a:rPr lang="th-TH" sz="2000" dirty="0">
                  <a:latin typeface="Kanit" pitchFamily="2" charset="-34"/>
                  <a:cs typeface="Kanit" pitchFamily="2" charset="-34"/>
                </a:rPr>
                <a:t>เข้าสู่ระบบ</a:t>
              </a:r>
            </a:p>
            <a:p>
              <a:pPr algn="ctr"/>
              <a:endParaRPr lang="th-TH" sz="2000" dirty="0">
                <a:latin typeface="Kanit" pitchFamily="2" charset="-34"/>
                <a:cs typeface="Kanit" pitchFamily="2" charset="-34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611560" y="3156385"/>
              <a:ext cx="273630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6110348" y="3652127"/>
            <a:ext cx="1949607" cy="1356808"/>
            <a:chOff x="5477219" y="3265261"/>
            <a:chExt cx="2255106" cy="1493004"/>
          </a:xfrm>
        </p:grpSpPr>
        <p:sp>
          <p:nvSpPr>
            <p:cNvPr id="12" name="Rounded Rectangle 11"/>
            <p:cNvSpPr/>
            <p:nvPr/>
          </p:nvSpPr>
          <p:spPr>
            <a:xfrm>
              <a:off x="5477219" y="3265261"/>
              <a:ext cx="2255106" cy="149300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Kanit" pitchFamily="2" charset="-34"/>
                  <a:cs typeface="Kanit" pitchFamily="2" charset="-34"/>
                </a:rPr>
                <a:t>2</a:t>
              </a:r>
            </a:p>
            <a:p>
              <a:pPr algn="ctr"/>
              <a:endParaRPr lang="th-TH" sz="2000" dirty="0">
                <a:latin typeface="Kanit" pitchFamily="2" charset="-34"/>
                <a:cs typeface="Kanit" pitchFamily="2" charset="-34"/>
              </a:endParaRPr>
            </a:p>
            <a:p>
              <a:pPr algn="ctr"/>
              <a:r>
                <a:rPr lang="th-TH" sz="2000" dirty="0">
                  <a:latin typeface="Kanit" pitchFamily="2" charset="-34"/>
                  <a:cs typeface="Kanit" pitchFamily="2" charset="-34"/>
                </a:rPr>
                <a:t>ประเมินผู้สอน</a:t>
              </a:r>
              <a:endParaRPr lang="en-US" sz="2000" dirty="0">
                <a:latin typeface="Kanit" pitchFamily="2" charset="-34"/>
                <a:cs typeface="Kanit" pitchFamily="2" charset="-34"/>
              </a:endParaRPr>
            </a:p>
            <a:p>
              <a:pPr algn="ctr"/>
              <a:endParaRPr lang="th-TH" sz="2000" dirty="0">
                <a:latin typeface="Kanit" pitchFamily="2" charset="-34"/>
                <a:cs typeface="Kanit" pitchFamily="2" charset="-34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5477219" y="3672733"/>
              <a:ext cx="225510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6110348" y="5180430"/>
            <a:ext cx="1949607" cy="1356808"/>
            <a:chOff x="611560" y="2661488"/>
            <a:chExt cx="2736304" cy="1710189"/>
          </a:xfrm>
        </p:grpSpPr>
        <p:sp>
          <p:nvSpPr>
            <p:cNvPr id="15" name="Rounded Rectangle 14"/>
            <p:cNvSpPr/>
            <p:nvPr/>
          </p:nvSpPr>
          <p:spPr>
            <a:xfrm>
              <a:off x="611560" y="2661488"/>
              <a:ext cx="2736304" cy="171018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Kanit" pitchFamily="2" charset="-34"/>
                  <a:cs typeface="Kanit" pitchFamily="2" charset="-34"/>
                </a:rPr>
                <a:t>3</a:t>
              </a:r>
            </a:p>
            <a:p>
              <a:pPr algn="ctr"/>
              <a:endParaRPr lang="th-TH" sz="2000" dirty="0">
                <a:latin typeface="Kanit" pitchFamily="2" charset="-34"/>
                <a:cs typeface="Kanit" pitchFamily="2" charset="-34"/>
              </a:endParaRPr>
            </a:p>
            <a:p>
              <a:pPr algn="ctr"/>
              <a:r>
                <a:rPr lang="th-TH" sz="2000" dirty="0">
                  <a:latin typeface="Kanit" pitchFamily="2" charset="-34"/>
                  <a:cs typeface="Kanit" pitchFamily="2" charset="-34"/>
                </a:rPr>
                <a:t>พิมพ์รายงาน</a:t>
              </a:r>
              <a:endParaRPr lang="en-US" sz="2000" dirty="0">
                <a:latin typeface="Kanit" pitchFamily="2" charset="-34"/>
                <a:cs typeface="Kanit" pitchFamily="2" charset="-34"/>
              </a:endParaRPr>
            </a:p>
            <a:p>
              <a:pPr algn="ctr"/>
              <a:endParaRPr lang="th-TH" sz="2000" dirty="0">
                <a:latin typeface="Kanit" pitchFamily="2" charset="-34"/>
                <a:cs typeface="Kanit" pitchFamily="2" charset="-34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611560" y="3156385"/>
              <a:ext cx="273630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" name="Straight Connector 18"/>
          <p:cNvCxnSpPr/>
          <p:nvPr/>
        </p:nvCxnSpPr>
        <p:spPr>
          <a:xfrm>
            <a:off x="4973782" y="2229633"/>
            <a:ext cx="0" cy="4143458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33590" y="2661681"/>
            <a:ext cx="2757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Context Diagram</a:t>
            </a:r>
            <a:endParaRPr lang="th-TH" sz="2400" dirty="0">
              <a:solidFill>
                <a:srgbClr val="FF000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12706" y="2716764"/>
            <a:ext cx="2757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DFD Fragment 1</a:t>
            </a:r>
            <a:endParaRPr lang="th-TH" sz="2400" dirty="0">
              <a:solidFill>
                <a:srgbClr val="FF000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2677" y="4223281"/>
            <a:ext cx="2757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DFD Fragment 2</a:t>
            </a:r>
            <a:endParaRPr lang="th-TH" sz="2400" dirty="0">
              <a:solidFill>
                <a:srgbClr val="FF0000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2677" y="5713465"/>
            <a:ext cx="2757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DFD Fragment 3</a:t>
            </a:r>
            <a:endParaRPr lang="th-TH" sz="2400" dirty="0">
              <a:solidFill>
                <a:srgbClr val="FF0000"/>
              </a:solidFill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771509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65" y="716010"/>
            <a:ext cx="11029616" cy="1013800"/>
          </a:xfrm>
        </p:spPr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ดาต้าสโตร์ (</a:t>
            </a:r>
            <a:r>
              <a:rPr lang="en-US" sz="4000" dirty="0">
                <a:latin typeface="Kanit" pitchFamily="2" charset="-34"/>
                <a:cs typeface="Kanit" pitchFamily="2" charset="-34"/>
              </a:rPr>
              <a:t>Data Stores)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63781" y="2367263"/>
            <a:ext cx="10627135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dirty="0">
                <a:latin typeface="Kanit" pitchFamily="2" charset="-34"/>
                <a:cs typeface="Kanit" pitchFamily="2" charset="-34"/>
              </a:rPr>
              <a:t>แหล่งที่ใช้จัดเก็บข้อมูล/ แฟ้มข้อมูล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Kanit" pitchFamily="2" charset="-34"/>
                <a:cs typeface="Kanit" pitchFamily="2" charset="-34"/>
              </a:rPr>
              <a:t>Data Store </a:t>
            </a:r>
            <a:r>
              <a:rPr lang="th-TH" dirty="0">
                <a:latin typeface="Kanit" pitchFamily="2" charset="-34"/>
                <a:cs typeface="Kanit" pitchFamily="2" charset="-34"/>
              </a:rPr>
              <a:t>จะต้องมีชื่อข้อมูล และมีการกำหนดลาเบล เช่น </a:t>
            </a:r>
            <a:r>
              <a:rPr lang="en-US" dirty="0">
                <a:latin typeface="Kanit" pitchFamily="2" charset="-34"/>
                <a:cs typeface="Kanit" pitchFamily="2" charset="-34"/>
              </a:rPr>
              <a:t>D1, D2, D3 </a:t>
            </a:r>
            <a:r>
              <a:rPr lang="th-TH" dirty="0">
                <a:latin typeface="Kanit" pitchFamily="2" charset="-34"/>
                <a:cs typeface="Kanit" pitchFamily="2" charset="-34"/>
              </a:rPr>
              <a:t>ตามลำดับ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Kanit" pitchFamily="2" charset="-34"/>
                <a:cs typeface="Kanit" pitchFamily="2" charset="-34"/>
              </a:rPr>
              <a:t>Data Store </a:t>
            </a:r>
            <a:r>
              <a:rPr lang="th-TH" dirty="0">
                <a:latin typeface="Kanit" pitchFamily="2" charset="-34"/>
                <a:cs typeface="Kanit" pitchFamily="2" charset="-34"/>
              </a:rPr>
              <a:t>จะถูกใช้งานโดย </a:t>
            </a:r>
            <a:r>
              <a:rPr lang="en-US" dirty="0">
                <a:latin typeface="Kanit" pitchFamily="2" charset="-34"/>
                <a:cs typeface="Kanit" pitchFamily="2" charset="-34"/>
              </a:rPr>
              <a:t>Process </a:t>
            </a:r>
            <a:r>
              <a:rPr lang="th-TH" dirty="0">
                <a:latin typeface="Kanit" pitchFamily="2" charset="-34"/>
                <a:cs typeface="Kanit" pitchFamily="2" charset="-34"/>
              </a:rPr>
              <a:t>และสามารถทำซ้ำได้</a:t>
            </a:r>
          </a:p>
          <a:p>
            <a:pPr>
              <a:lnSpc>
                <a:spcPct val="150000"/>
              </a:lnSpc>
            </a:pPr>
            <a:endParaRPr lang="th-TH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31237741"/>
      </p:ext>
    </p:extLst>
  </p:cSld>
  <p:clrMapOvr>
    <a:masterClrMapping/>
  </p:clrMapOvr>
  <p:transition spd="slow"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65" y="716010"/>
            <a:ext cx="11029616" cy="1013800"/>
          </a:xfrm>
        </p:spPr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ดาต้าสโตร์ (</a:t>
            </a:r>
            <a:r>
              <a:rPr lang="en-US" sz="4000" dirty="0">
                <a:latin typeface="Kanit" pitchFamily="2" charset="-34"/>
                <a:cs typeface="Kanit" pitchFamily="2" charset="-34"/>
              </a:rPr>
              <a:t>Data Stores)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1316182" y="2622143"/>
            <a:ext cx="9698182" cy="2358566"/>
            <a:chOff x="672" y="2352"/>
            <a:chExt cx="4768" cy="1298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672" y="2352"/>
              <a:ext cx="1152" cy="240"/>
              <a:chOff x="816" y="3408"/>
              <a:chExt cx="1152" cy="240"/>
            </a:xfrm>
          </p:grpSpPr>
          <p:grpSp>
            <p:nvGrpSpPr>
              <p:cNvPr id="35" name="Group 5"/>
              <p:cNvGrpSpPr>
                <a:grpSpLocks/>
              </p:cNvGrpSpPr>
              <p:nvPr/>
            </p:nvGrpSpPr>
            <p:grpSpPr bwMode="auto">
              <a:xfrm>
                <a:off x="816" y="3408"/>
                <a:ext cx="1152" cy="240"/>
                <a:chOff x="816" y="3216"/>
                <a:chExt cx="1152" cy="240"/>
              </a:xfrm>
            </p:grpSpPr>
            <p:sp>
              <p:nvSpPr>
                <p:cNvPr id="38" name="Rectangle 6"/>
                <p:cNvSpPr>
                  <a:spLocks noChangeArrowheads="1"/>
                </p:cNvSpPr>
                <p:nvPr/>
              </p:nvSpPr>
              <p:spPr bwMode="auto">
                <a:xfrm>
                  <a:off x="816" y="3216"/>
                  <a:ext cx="24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th-TH" sz="1800" dirty="0">
                    <a:latin typeface="Kanit" pitchFamily="2" charset="-34"/>
                    <a:cs typeface="Kanit" pitchFamily="2" charset="-34"/>
                  </a:endParaRPr>
                </a:p>
              </p:txBody>
            </p:sp>
            <p:sp>
              <p:nvSpPr>
                <p:cNvPr id="39" name="Line 7"/>
                <p:cNvSpPr>
                  <a:spLocks noChangeShapeType="1"/>
                </p:cNvSpPr>
                <p:nvPr/>
              </p:nvSpPr>
              <p:spPr bwMode="auto">
                <a:xfrm>
                  <a:off x="1056" y="3216"/>
                  <a:ext cx="9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h-TH" sz="1800" dirty="0">
                    <a:latin typeface="Kanit" pitchFamily="2" charset="-34"/>
                    <a:cs typeface="Kanit" pitchFamily="2" charset="-34"/>
                  </a:endParaRPr>
                </a:p>
              </p:txBody>
            </p:sp>
            <p:sp>
              <p:nvSpPr>
                <p:cNvPr id="40" name="Line 8"/>
                <p:cNvSpPr>
                  <a:spLocks noChangeShapeType="1"/>
                </p:cNvSpPr>
                <p:nvPr/>
              </p:nvSpPr>
              <p:spPr bwMode="auto">
                <a:xfrm>
                  <a:off x="1056" y="3456"/>
                  <a:ext cx="9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h-TH" sz="1800" dirty="0">
                    <a:latin typeface="Kanit" pitchFamily="2" charset="-34"/>
                    <a:cs typeface="Kanit" pitchFamily="2" charset="-34"/>
                  </a:endParaRPr>
                </a:p>
              </p:txBody>
            </p:sp>
          </p:grpSp>
          <p:sp>
            <p:nvSpPr>
              <p:cNvPr id="36" name="Text Box 9"/>
              <p:cNvSpPr txBox="1">
                <a:spLocks noChangeArrowheads="1"/>
              </p:cNvSpPr>
              <p:nvPr/>
            </p:nvSpPr>
            <p:spPr bwMode="auto">
              <a:xfrm>
                <a:off x="823" y="3441"/>
                <a:ext cx="192" cy="1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0" lang="en-US" sz="1200" dirty="0">
                    <a:latin typeface="Kanit" pitchFamily="2" charset="-34"/>
                    <a:cs typeface="Kanit" pitchFamily="2" charset="-34"/>
                  </a:rPr>
                  <a:t>D1</a:t>
                </a:r>
                <a:endParaRPr kumimoji="0" lang="th-TH" sz="12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37" name="Text Box 10"/>
              <p:cNvSpPr txBox="1">
                <a:spLocks noChangeArrowheads="1"/>
              </p:cNvSpPr>
              <p:nvPr/>
            </p:nvSpPr>
            <p:spPr bwMode="auto">
              <a:xfrm>
                <a:off x="1056" y="3430"/>
                <a:ext cx="373" cy="2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0" lang="en-US" sz="1400" dirty="0">
                    <a:latin typeface="Kanit" pitchFamily="2" charset="-34"/>
                    <a:cs typeface="Kanit" pitchFamily="2" charset="-34"/>
                  </a:rPr>
                  <a:t>data 1</a:t>
                </a:r>
                <a:endParaRPr kumimoji="0" lang="th-TH" sz="1400" dirty="0">
                  <a:latin typeface="Kanit" pitchFamily="2" charset="-34"/>
                  <a:cs typeface="Kanit" pitchFamily="2" charset="-34"/>
                </a:endParaRPr>
              </a:p>
            </p:txBody>
          </p:sp>
        </p:grpSp>
        <p:graphicFrame>
          <p:nvGraphicFramePr>
            <p:cNvPr id="6" name="Object 11"/>
            <p:cNvGraphicFramePr>
              <a:graphicFrameLocks noChangeAspect="1"/>
            </p:cNvGraphicFramePr>
            <p:nvPr/>
          </p:nvGraphicFramePr>
          <p:xfrm>
            <a:off x="912" y="2916"/>
            <a:ext cx="637" cy="6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SmartDraw" r:id="rId2" imgW="1011600" imgH="1086480" progId="">
                    <p:embed/>
                  </p:oleObj>
                </mc:Choice>
                <mc:Fallback>
                  <p:oleObj name="SmartDraw" r:id="rId2" imgW="1011600" imgH="1086480" progId="">
                    <p:embed/>
                    <p:pic>
                      <p:nvPicPr>
                        <p:cNvPr id="5122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916"/>
                          <a:ext cx="637" cy="6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13"/>
            <p:cNvSpPr>
              <a:spLocks noChangeShapeType="1"/>
            </p:cNvSpPr>
            <p:nvPr/>
          </p:nvSpPr>
          <p:spPr bwMode="auto">
            <a:xfrm>
              <a:off x="1248" y="259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th-TH" sz="1800" dirty="0">
                <a:latin typeface="Kanit" pitchFamily="2" charset="-34"/>
                <a:cs typeface="Kanit" pitchFamily="2" charset="-34"/>
              </a:endParaRPr>
            </a:p>
          </p:txBody>
        </p:sp>
        <p:grpSp>
          <p:nvGrpSpPr>
            <p:cNvPr id="8" name="Group 14"/>
            <p:cNvGrpSpPr>
              <a:grpSpLocks/>
            </p:cNvGrpSpPr>
            <p:nvPr/>
          </p:nvGrpSpPr>
          <p:grpSpPr bwMode="auto">
            <a:xfrm>
              <a:off x="2352" y="2364"/>
              <a:ext cx="1152" cy="240"/>
              <a:chOff x="816" y="3408"/>
              <a:chExt cx="1152" cy="240"/>
            </a:xfrm>
          </p:grpSpPr>
          <p:grpSp>
            <p:nvGrpSpPr>
              <p:cNvPr id="29" name="Group 15"/>
              <p:cNvGrpSpPr>
                <a:grpSpLocks/>
              </p:cNvGrpSpPr>
              <p:nvPr/>
            </p:nvGrpSpPr>
            <p:grpSpPr bwMode="auto">
              <a:xfrm>
                <a:off x="816" y="3408"/>
                <a:ext cx="1152" cy="240"/>
                <a:chOff x="816" y="3216"/>
                <a:chExt cx="1152" cy="240"/>
              </a:xfrm>
            </p:grpSpPr>
            <p:sp>
              <p:nvSpPr>
                <p:cNvPr id="32" name="Rectangle 16"/>
                <p:cNvSpPr>
                  <a:spLocks noChangeArrowheads="1"/>
                </p:cNvSpPr>
                <p:nvPr/>
              </p:nvSpPr>
              <p:spPr bwMode="auto">
                <a:xfrm>
                  <a:off x="816" y="3216"/>
                  <a:ext cx="24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th-TH" sz="1800" dirty="0">
                    <a:latin typeface="Kanit" pitchFamily="2" charset="-34"/>
                    <a:cs typeface="Kanit" pitchFamily="2" charset="-34"/>
                  </a:endParaRPr>
                </a:p>
              </p:txBody>
            </p:sp>
            <p:sp>
              <p:nvSpPr>
                <p:cNvPr id="33" name="Line 17"/>
                <p:cNvSpPr>
                  <a:spLocks noChangeShapeType="1"/>
                </p:cNvSpPr>
                <p:nvPr/>
              </p:nvSpPr>
              <p:spPr bwMode="auto">
                <a:xfrm>
                  <a:off x="1056" y="3216"/>
                  <a:ext cx="9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h-TH" sz="1800" dirty="0">
                    <a:latin typeface="Kanit" pitchFamily="2" charset="-34"/>
                    <a:cs typeface="Kanit" pitchFamily="2" charset="-34"/>
                  </a:endParaRPr>
                </a:p>
              </p:txBody>
            </p:sp>
            <p:sp>
              <p:nvSpPr>
                <p:cNvPr id="34" name="Line 18"/>
                <p:cNvSpPr>
                  <a:spLocks noChangeShapeType="1"/>
                </p:cNvSpPr>
                <p:nvPr/>
              </p:nvSpPr>
              <p:spPr bwMode="auto">
                <a:xfrm>
                  <a:off x="1056" y="3456"/>
                  <a:ext cx="9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h-TH" sz="1800" dirty="0">
                    <a:latin typeface="Kanit" pitchFamily="2" charset="-34"/>
                    <a:cs typeface="Kanit" pitchFamily="2" charset="-34"/>
                  </a:endParaRPr>
                </a:p>
              </p:txBody>
            </p:sp>
          </p:grpSp>
          <p:sp>
            <p:nvSpPr>
              <p:cNvPr id="30" name="Text Box 19"/>
              <p:cNvSpPr txBox="1">
                <a:spLocks noChangeArrowheads="1"/>
              </p:cNvSpPr>
              <p:nvPr/>
            </p:nvSpPr>
            <p:spPr bwMode="auto">
              <a:xfrm>
                <a:off x="823" y="3449"/>
                <a:ext cx="209" cy="1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0" lang="en-US" sz="1200" dirty="0">
                    <a:latin typeface="Kanit" pitchFamily="2" charset="-34"/>
                    <a:cs typeface="Kanit" pitchFamily="2" charset="-34"/>
                  </a:rPr>
                  <a:t>D2</a:t>
                </a:r>
                <a:endParaRPr kumimoji="0" lang="th-TH" sz="12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31" name="Text Box 20"/>
              <p:cNvSpPr txBox="1">
                <a:spLocks noChangeArrowheads="1"/>
              </p:cNvSpPr>
              <p:nvPr/>
            </p:nvSpPr>
            <p:spPr bwMode="auto">
              <a:xfrm>
                <a:off x="1056" y="3438"/>
                <a:ext cx="392" cy="2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0" lang="en-US" sz="1400" dirty="0">
                    <a:latin typeface="Kanit" pitchFamily="2" charset="-34"/>
                    <a:cs typeface="Kanit" pitchFamily="2" charset="-34"/>
                  </a:rPr>
                  <a:t>data 2</a:t>
                </a:r>
                <a:endParaRPr kumimoji="0" lang="th-TH" sz="1400" dirty="0">
                  <a:latin typeface="Kanit" pitchFamily="2" charset="-34"/>
                  <a:cs typeface="Kanit" pitchFamily="2" charset="-34"/>
                </a:endParaRPr>
              </a:p>
            </p:txBody>
          </p:sp>
        </p:grpSp>
        <p:graphicFrame>
          <p:nvGraphicFramePr>
            <p:cNvPr id="9" name="Object 21"/>
            <p:cNvGraphicFramePr>
              <a:graphicFrameLocks noChangeAspect="1"/>
            </p:cNvGraphicFramePr>
            <p:nvPr/>
          </p:nvGraphicFramePr>
          <p:xfrm>
            <a:off x="2592" y="2928"/>
            <a:ext cx="637" cy="6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SmartDraw" r:id="rId4" imgW="1011600" imgH="1086480" progId="">
                    <p:embed/>
                  </p:oleObj>
                </mc:Choice>
                <mc:Fallback>
                  <p:oleObj name="SmartDraw" r:id="rId4" imgW="1011600" imgH="1086480" progId="">
                    <p:embed/>
                    <p:pic>
                      <p:nvPicPr>
                        <p:cNvPr id="5123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2928"/>
                          <a:ext cx="637" cy="6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Line 22"/>
            <p:cNvSpPr>
              <a:spLocks noChangeShapeType="1"/>
            </p:cNvSpPr>
            <p:nvPr/>
          </p:nvSpPr>
          <p:spPr bwMode="auto">
            <a:xfrm>
              <a:off x="2928" y="2604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th-TH" sz="1800" dirty="0">
                <a:latin typeface="Kanit" pitchFamily="2" charset="-34"/>
                <a:cs typeface="Kanit" pitchFamily="2" charset="-34"/>
              </a:endParaRPr>
            </a:p>
          </p:txBody>
        </p:sp>
        <p:grpSp>
          <p:nvGrpSpPr>
            <p:cNvPr id="11" name="Group 23"/>
            <p:cNvGrpSpPr>
              <a:grpSpLocks/>
            </p:cNvGrpSpPr>
            <p:nvPr/>
          </p:nvGrpSpPr>
          <p:grpSpPr bwMode="auto">
            <a:xfrm>
              <a:off x="4128" y="2402"/>
              <a:ext cx="1152" cy="240"/>
              <a:chOff x="816" y="3408"/>
              <a:chExt cx="1152" cy="240"/>
            </a:xfrm>
          </p:grpSpPr>
          <p:grpSp>
            <p:nvGrpSpPr>
              <p:cNvPr id="23" name="Group 24"/>
              <p:cNvGrpSpPr>
                <a:grpSpLocks/>
              </p:cNvGrpSpPr>
              <p:nvPr/>
            </p:nvGrpSpPr>
            <p:grpSpPr bwMode="auto">
              <a:xfrm>
                <a:off x="816" y="3408"/>
                <a:ext cx="1152" cy="240"/>
                <a:chOff x="816" y="3216"/>
                <a:chExt cx="1152" cy="240"/>
              </a:xfrm>
            </p:grpSpPr>
            <p:sp>
              <p:nvSpPr>
                <p:cNvPr id="26" name="Rectangle 25"/>
                <p:cNvSpPr>
                  <a:spLocks noChangeArrowheads="1"/>
                </p:cNvSpPr>
                <p:nvPr/>
              </p:nvSpPr>
              <p:spPr bwMode="auto">
                <a:xfrm>
                  <a:off x="816" y="3216"/>
                  <a:ext cx="240" cy="2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th-TH" sz="1800" dirty="0">
                    <a:latin typeface="Kanit" pitchFamily="2" charset="-34"/>
                    <a:cs typeface="Kanit" pitchFamily="2" charset="-34"/>
                  </a:endParaRPr>
                </a:p>
              </p:txBody>
            </p:sp>
            <p:sp>
              <p:nvSpPr>
                <p:cNvPr id="27" name="Line 26"/>
                <p:cNvSpPr>
                  <a:spLocks noChangeShapeType="1"/>
                </p:cNvSpPr>
                <p:nvPr/>
              </p:nvSpPr>
              <p:spPr bwMode="auto">
                <a:xfrm>
                  <a:off x="1056" y="3216"/>
                  <a:ext cx="9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h-TH" sz="1800" dirty="0">
                    <a:latin typeface="Kanit" pitchFamily="2" charset="-34"/>
                    <a:cs typeface="Kanit" pitchFamily="2" charset="-34"/>
                  </a:endParaRPr>
                </a:p>
              </p:txBody>
            </p:sp>
            <p:sp>
              <p:nvSpPr>
                <p:cNvPr id="28" name="Line 27"/>
                <p:cNvSpPr>
                  <a:spLocks noChangeShapeType="1"/>
                </p:cNvSpPr>
                <p:nvPr/>
              </p:nvSpPr>
              <p:spPr bwMode="auto">
                <a:xfrm>
                  <a:off x="1056" y="3456"/>
                  <a:ext cx="9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th-TH" sz="1800" dirty="0">
                    <a:latin typeface="Kanit" pitchFamily="2" charset="-34"/>
                    <a:cs typeface="Kanit" pitchFamily="2" charset="-34"/>
                  </a:endParaRPr>
                </a:p>
              </p:txBody>
            </p:sp>
          </p:grpSp>
          <p:sp>
            <p:nvSpPr>
              <p:cNvPr id="24" name="Text Box 28"/>
              <p:cNvSpPr txBox="1">
                <a:spLocks noChangeArrowheads="1"/>
              </p:cNvSpPr>
              <p:nvPr/>
            </p:nvSpPr>
            <p:spPr bwMode="auto">
              <a:xfrm>
                <a:off x="823" y="3449"/>
                <a:ext cx="209" cy="1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0" lang="en-US" sz="1200" dirty="0">
                    <a:latin typeface="Kanit" pitchFamily="2" charset="-34"/>
                    <a:cs typeface="Kanit" pitchFamily="2" charset="-34"/>
                  </a:rPr>
                  <a:t>D3</a:t>
                </a:r>
                <a:endParaRPr kumimoji="0" lang="th-TH" sz="1200" dirty="0">
                  <a:latin typeface="Kanit" pitchFamily="2" charset="-34"/>
                  <a:cs typeface="Kanit" pitchFamily="2" charset="-34"/>
                </a:endParaRPr>
              </a:p>
            </p:txBody>
          </p:sp>
          <p:sp>
            <p:nvSpPr>
              <p:cNvPr id="25" name="Text Box 29"/>
              <p:cNvSpPr txBox="1">
                <a:spLocks noChangeArrowheads="1"/>
              </p:cNvSpPr>
              <p:nvPr/>
            </p:nvSpPr>
            <p:spPr bwMode="auto">
              <a:xfrm>
                <a:off x="1056" y="3438"/>
                <a:ext cx="393" cy="20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0" lang="en-US" sz="1400" dirty="0">
                    <a:latin typeface="Kanit" pitchFamily="2" charset="-34"/>
                    <a:cs typeface="Kanit" pitchFamily="2" charset="-34"/>
                  </a:rPr>
                  <a:t>data 3</a:t>
                </a:r>
                <a:endParaRPr kumimoji="0" lang="th-TH" sz="1400" dirty="0">
                  <a:latin typeface="Kanit" pitchFamily="2" charset="-34"/>
                  <a:cs typeface="Kanit" pitchFamily="2" charset="-34"/>
                </a:endParaRPr>
              </a:p>
            </p:txBody>
          </p:sp>
        </p:grpSp>
        <p:graphicFrame>
          <p:nvGraphicFramePr>
            <p:cNvPr id="12" name="Object 30"/>
            <p:cNvGraphicFramePr>
              <a:graphicFrameLocks noChangeAspect="1"/>
            </p:cNvGraphicFramePr>
            <p:nvPr/>
          </p:nvGraphicFramePr>
          <p:xfrm>
            <a:off x="4368" y="2966"/>
            <a:ext cx="637" cy="6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SmartDraw" r:id="rId4" imgW="1011600" imgH="1086480" progId="">
                    <p:embed/>
                  </p:oleObj>
                </mc:Choice>
                <mc:Fallback>
                  <p:oleObj name="SmartDraw" r:id="rId4" imgW="1011600" imgH="1086480" progId="">
                    <p:embed/>
                    <p:pic>
                      <p:nvPicPr>
                        <p:cNvPr id="5124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2966"/>
                          <a:ext cx="637" cy="6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Line 31"/>
            <p:cNvSpPr>
              <a:spLocks noChangeShapeType="1"/>
            </p:cNvSpPr>
            <p:nvPr/>
          </p:nvSpPr>
          <p:spPr bwMode="auto">
            <a:xfrm>
              <a:off x="4704" y="264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th-TH" sz="1800" dirty="0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4" name="Text Box 32"/>
            <p:cNvSpPr txBox="1">
              <a:spLocks noChangeArrowheads="1"/>
            </p:cNvSpPr>
            <p:nvPr/>
          </p:nvSpPr>
          <p:spPr bwMode="auto">
            <a:xfrm>
              <a:off x="1142" y="2936"/>
              <a:ext cx="13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sz="1200" dirty="0">
                  <a:latin typeface="Kanit" pitchFamily="2" charset="-34"/>
                  <a:cs typeface="Kanit" pitchFamily="2" charset="-34"/>
                </a:rPr>
                <a:t>1</a:t>
              </a:r>
              <a:endParaRPr kumimoji="0" lang="th-TH" sz="1200" dirty="0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5" name="Text Box 33"/>
            <p:cNvSpPr txBox="1">
              <a:spLocks noChangeArrowheads="1"/>
            </p:cNvSpPr>
            <p:nvPr/>
          </p:nvSpPr>
          <p:spPr bwMode="auto">
            <a:xfrm>
              <a:off x="1008" y="3202"/>
              <a:ext cx="521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sz="1400" dirty="0">
                  <a:latin typeface="Kanit" pitchFamily="2" charset="-34"/>
                  <a:cs typeface="Kanit" pitchFamily="2" charset="-34"/>
                </a:rPr>
                <a:t>Process 1</a:t>
              </a:r>
              <a:endParaRPr kumimoji="0" lang="th-TH" sz="1400" dirty="0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6" name="Text Box 34"/>
            <p:cNvSpPr txBox="1">
              <a:spLocks noChangeArrowheads="1"/>
            </p:cNvSpPr>
            <p:nvPr/>
          </p:nvSpPr>
          <p:spPr bwMode="auto">
            <a:xfrm>
              <a:off x="4598" y="2995"/>
              <a:ext cx="13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sz="1200" dirty="0">
                  <a:latin typeface="Kanit" pitchFamily="2" charset="-34"/>
                  <a:cs typeface="Kanit" pitchFamily="2" charset="-34"/>
                </a:rPr>
                <a:t>1</a:t>
              </a:r>
              <a:endParaRPr kumimoji="0" lang="th-TH" sz="1200" dirty="0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7" name="Text Box 35"/>
            <p:cNvSpPr txBox="1">
              <a:spLocks noChangeArrowheads="1"/>
            </p:cNvSpPr>
            <p:nvPr/>
          </p:nvSpPr>
          <p:spPr bwMode="auto">
            <a:xfrm>
              <a:off x="4464" y="3259"/>
              <a:ext cx="521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sz="1400" dirty="0">
                  <a:latin typeface="Kanit" pitchFamily="2" charset="-34"/>
                  <a:cs typeface="Kanit" pitchFamily="2" charset="-34"/>
                </a:rPr>
                <a:t>Process 1</a:t>
              </a:r>
              <a:endParaRPr kumimoji="0" lang="th-TH" sz="1400" dirty="0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8" name="Text Box 36"/>
            <p:cNvSpPr txBox="1">
              <a:spLocks noChangeArrowheads="1"/>
            </p:cNvSpPr>
            <p:nvPr/>
          </p:nvSpPr>
          <p:spPr bwMode="auto">
            <a:xfrm>
              <a:off x="2831" y="2946"/>
              <a:ext cx="13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sz="1200" dirty="0">
                  <a:latin typeface="Kanit" pitchFamily="2" charset="-34"/>
                  <a:cs typeface="Kanit" pitchFamily="2" charset="-34"/>
                </a:rPr>
                <a:t>1</a:t>
              </a:r>
              <a:endParaRPr kumimoji="0" lang="th-TH" sz="1200" dirty="0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9" name="Text Box 37"/>
            <p:cNvSpPr txBox="1">
              <a:spLocks noChangeArrowheads="1"/>
            </p:cNvSpPr>
            <p:nvPr/>
          </p:nvSpPr>
          <p:spPr bwMode="auto">
            <a:xfrm>
              <a:off x="2698" y="3210"/>
              <a:ext cx="521" cy="2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sz="1400" dirty="0">
                  <a:latin typeface="Kanit" pitchFamily="2" charset="-34"/>
                  <a:cs typeface="Kanit" pitchFamily="2" charset="-34"/>
                </a:rPr>
                <a:t>Process 1</a:t>
              </a:r>
              <a:endParaRPr kumimoji="0" lang="th-TH" sz="1400" dirty="0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0" name="Text Box 38"/>
            <p:cNvSpPr txBox="1">
              <a:spLocks noChangeArrowheads="1"/>
            </p:cNvSpPr>
            <p:nvPr/>
          </p:nvSpPr>
          <p:spPr bwMode="auto">
            <a:xfrm>
              <a:off x="2941" y="2660"/>
              <a:ext cx="296" cy="1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sz="1400" dirty="0">
                  <a:solidFill>
                    <a:srgbClr val="FF0000"/>
                  </a:solidFill>
                  <a:latin typeface="Kanit" pitchFamily="2" charset="-34"/>
                  <a:cs typeface="Kanit" pitchFamily="2" charset="-34"/>
                </a:rPr>
                <a:t>Input</a:t>
              </a:r>
              <a:endParaRPr kumimoji="0" lang="th-TH" sz="14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1" name="Text Box 39"/>
            <p:cNvSpPr txBox="1">
              <a:spLocks noChangeArrowheads="1"/>
            </p:cNvSpPr>
            <p:nvPr/>
          </p:nvSpPr>
          <p:spPr bwMode="auto">
            <a:xfrm>
              <a:off x="1233" y="2652"/>
              <a:ext cx="369" cy="1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sz="1400" dirty="0">
                  <a:solidFill>
                    <a:srgbClr val="FF0000"/>
                  </a:solidFill>
                  <a:latin typeface="Kanit" pitchFamily="2" charset="-34"/>
                  <a:cs typeface="Kanit" pitchFamily="2" charset="-34"/>
                </a:rPr>
                <a:t>Output</a:t>
              </a:r>
              <a:endParaRPr kumimoji="0" lang="th-TH" sz="14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2" name="Text Box 40"/>
            <p:cNvSpPr txBox="1">
              <a:spLocks noChangeArrowheads="1"/>
            </p:cNvSpPr>
            <p:nvPr/>
          </p:nvSpPr>
          <p:spPr bwMode="auto">
            <a:xfrm>
              <a:off x="4752" y="2689"/>
              <a:ext cx="688" cy="1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kumimoji="0" lang="en-US" sz="1400" dirty="0" err="1">
                  <a:solidFill>
                    <a:srgbClr val="FF0000"/>
                  </a:solidFill>
                  <a:latin typeface="Kanit" pitchFamily="2" charset="-34"/>
                  <a:cs typeface="Kanit" pitchFamily="2" charset="-34"/>
                </a:rPr>
                <a:t>Input/Output</a:t>
              </a:r>
              <a:endParaRPr kumimoji="0" lang="th-TH" sz="14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endParaRPr>
            </a:p>
          </p:txBody>
        </p:sp>
      </p:grpSp>
      <p:sp>
        <p:nvSpPr>
          <p:cNvPr id="41" name="Text Box 42"/>
          <p:cNvSpPr txBox="1">
            <a:spLocks noChangeArrowheads="1"/>
          </p:cNvSpPr>
          <p:nvPr/>
        </p:nvSpPr>
        <p:spPr bwMode="auto">
          <a:xfrm>
            <a:off x="1239545" y="5419001"/>
            <a:ext cx="2339839" cy="70788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ลูกศรจาก</a:t>
            </a:r>
            <a:r>
              <a:rPr lang="th-TH" sz="2000" dirty="0" err="1">
                <a:latin typeface="Kanit" pitchFamily="2" charset="-34"/>
                <a:cs typeface="Kanit" pitchFamily="2" charset="-34"/>
              </a:rPr>
              <a:t>ดาต้าสโตร์</a:t>
            </a:r>
            <a:r>
              <a:rPr lang="th-TH" sz="2000" dirty="0">
                <a:latin typeface="Kanit" pitchFamily="2" charset="-34"/>
                <a:cs typeface="Kanit" pitchFamily="2" charset="-34"/>
              </a:rPr>
              <a:t>ชี้ไปยังโปรเซส</a:t>
            </a:r>
          </a:p>
        </p:txBody>
      </p:sp>
      <p:sp>
        <p:nvSpPr>
          <p:cNvPr id="42" name="Text Box 43"/>
          <p:cNvSpPr txBox="1">
            <a:spLocks noChangeArrowheads="1"/>
          </p:cNvSpPr>
          <p:nvPr/>
        </p:nvSpPr>
        <p:spPr bwMode="auto">
          <a:xfrm>
            <a:off x="4661183" y="5419001"/>
            <a:ext cx="2487472" cy="70788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ลูกศรจากโปรเซสชี้ไปยัง</a:t>
            </a:r>
            <a:r>
              <a:rPr lang="th-TH" sz="2000" dirty="0" err="1">
                <a:latin typeface="Kanit" pitchFamily="2" charset="-34"/>
                <a:cs typeface="Kanit" pitchFamily="2" charset="-34"/>
              </a:rPr>
              <a:t>ดาต้าสโตร์</a:t>
            </a:r>
            <a:endParaRPr lang="th-TH" sz="2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3" name="Text Box 44"/>
          <p:cNvSpPr txBox="1">
            <a:spLocks noChangeArrowheads="1"/>
          </p:cNvSpPr>
          <p:nvPr/>
        </p:nvSpPr>
        <p:spPr bwMode="auto">
          <a:xfrm>
            <a:off x="8572529" y="5419001"/>
            <a:ext cx="1992755" cy="70788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th-TH" sz="2000" dirty="0">
                <a:latin typeface="Kanit" pitchFamily="2" charset="-34"/>
                <a:cs typeface="Kanit" pitchFamily="2" charset="-34"/>
              </a:rPr>
              <a:t>ลูกศรบนปลายทั้งสองด้าน</a:t>
            </a:r>
          </a:p>
        </p:txBody>
      </p:sp>
    </p:spTree>
    <p:extLst>
      <p:ext uri="{BB962C8B-B14F-4D97-AF65-F5344CB8AC3E}">
        <p14:creationId xmlns:p14="http://schemas.microsoft.com/office/powerpoint/2010/main" val="4145692123"/>
      </p:ext>
    </p:extLst>
  </p:cSld>
  <p:clrMapOvr>
    <a:masterClrMapping/>
  </p:clrMapOvr>
  <p:transition spd="slow">
    <p:push dir="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65" y="716010"/>
            <a:ext cx="11029616" cy="1013800"/>
          </a:xfrm>
        </p:spPr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กิจกรรมกลุ่ม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99852" y="1260762"/>
            <a:ext cx="10724114" cy="396956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จงวาด </a:t>
            </a:r>
            <a:r>
              <a:rPr lang="en-US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DFD Fragment </a:t>
            </a: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ของระบบ </a:t>
            </a:r>
            <a:r>
              <a:rPr lang="en-US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Facebook</a:t>
            </a: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อย่างน้อย 2 </a:t>
            </a:r>
            <a:r>
              <a:rPr lang="en-US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Fragment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นำเสนอในชั้นเรียน</a:t>
            </a:r>
          </a:p>
        </p:txBody>
      </p:sp>
    </p:spTree>
    <p:extLst>
      <p:ext uri="{BB962C8B-B14F-4D97-AF65-F5344CB8AC3E}">
        <p14:creationId xmlns:p14="http://schemas.microsoft.com/office/powerpoint/2010/main" val="3261508175"/>
      </p:ext>
    </p:extLst>
  </p:cSld>
  <p:clrMapOvr>
    <a:masterClrMapping/>
  </p:clrMapOvr>
  <p:transition spd="slow">
    <p:push dir="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41536" y="1280801"/>
            <a:ext cx="94967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4000" dirty="0">
                <a:latin typeface="Kanit" pitchFamily="2" charset="-34"/>
                <a:cs typeface="Kanit" pitchFamily="2" charset="-34"/>
              </a:rPr>
              <a:t>ไม่มีอะไรได้มาแบบง่าย ๆ โดยที่เราไม่ได้ลงมือทำ</a:t>
            </a:r>
          </a:p>
          <a:p>
            <a:pPr algn="ctr"/>
            <a:r>
              <a:rPr lang="th-TH" sz="4000" dirty="0">
                <a:latin typeface="Kanit" pitchFamily="2" charset="-34"/>
                <a:cs typeface="Kanit" pitchFamily="2" charset="-34"/>
              </a:rPr>
              <a:t>ความสำเร็จก็เช่นกัน</a:t>
            </a:r>
          </a:p>
        </p:txBody>
      </p:sp>
      <p:sp>
        <p:nvSpPr>
          <p:cNvPr id="5" name="Heart 4"/>
          <p:cNvSpPr/>
          <p:nvPr/>
        </p:nvSpPr>
        <p:spPr>
          <a:xfrm>
            <a:off x="5371746" y="3888468"/>
            <a:ext cx="1800200" cy="1584176"/>
          </a:xfrm>
          <a:prstGeom prst="heart">
            <a:avLst/>
          </a:prstGeom>
          <a:solidFill>
            <a:srgbClr val="FF006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TextBox 1"/>
          <p:cNvSpPr txBox="1"/>
          <p:nvPr/>
        </p:nvSpPr>
        <p:spPr>
          <a:xfrm>
            <a:off x="1347606" y="3411415"/>
            <a:ext cx="1847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985005"/>
      </p:ext>
    </p:extLst>
  </p:cSld>
  <p:clrMapOvr>
    <a:masterClrMapping/>
  </p:clrMapOvr>
  <p:transition spd="slow">
    <p:push dir="u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65" y="716010"/>
            <a:ext cx="11029616" cy="1013800"/>
          </a:xfrm>
        </p:spPr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สัญลักษณ์ที่ใช้ในแผนภาพกระแสข้อมูล (</a:t>
            </a:r>
            <a:r>
              <a:rPr lang="en-US" sz="4000" dirty="0" err="1">
                <a:latin typeface="Kanit" pitchFamily="2" charset="-34"/>
                <a:cs typeface="Kanit" pitchFamily="2" charset="-34"/>
              </a:rPr>
              <a:t>Gane</a:t>
            </a:r>
            <a:r>
              <a:rPr lang="en-US" sz="4000" dirty="0">
                <a:latin typeface="Kanit" pitchFamily="2" charset="-34"/>
                <a:cs typeface="Kanit" pitchFamily="2" charset="-34"/>
              </a:rPr>
              <a:t> &amp; </a:t>
            </a:r>
            <a:r>
              <a:rPr lang="en-US" sz="4000" dirty="0" err="1">
                <a:latin typeface="Kanit" pitchFamily="2" charset="-34"/>
                <a:cs typeface="Kanit" pitchFamily="2" charset="-34"/>
              </a:rPr>
              <a:t>Sarson</a:t>
            </a:r>
            <a:r>
              <a:rPr lang="en-US" sz="4000" dirty="0">
                <a:latin typeface="Kanit" pitchFamily="2" charset="-34"/>
                <a:cs typeface="Kanit" pitchFamily="2" charset="-34"/>
              </a:rPr>
              <a:t>)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43347" y="1870364"/>
          <a:ext cx="11292153" cy="47936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68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8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5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586">
                <a:tc>
                  <a:txBody>
                    <a:bodyPr/>
                    <a:lstStyle/>
                    <a:p>
                      <a:pPr algn="ctr"/>
                      <a:r>
                        <a:rPr lang="th-TH" sz="2000" b="1" dirty="0">
                          <a:latin typeface="Kanit" pitchFamily="2" charset="-34"/>
                          <a:cs typeface="Kanit" pitchFamily="2" charset="-34"/>
                        </a:rPr>
                        <a:t>สัญลักษณ์</a:t>
                      </a:r>
                      <a:endParaRPr lang="en-US" sz="2000" b="1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b="1" dirty="0">
                          <a:latin typeface="Kanit" pitchFamily="2" charset="-34"/>
                          <a:cs typeface="Kanit" pitchFamily="2" charset="-34"/>
                        </a:rPr>
                        <a:t>ความหมาย</a:t>
                      </a:r>
                      <a:endParaRPr lang="en-US" sz="2000" b="1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2000" b="1" dirty="0">
                          <a:latin typeface="Kanit" pitchFamily="2" charset="-34"/>
                          <a:cs typeface="Kanit" pitchFamily="2" charset="-34"/>
                        </a:rPr>
                        <a:t>คำอธิบาย</a:t>
                      </a:r>
                      <a:endParaRPr lang="en-US" sz="2000" b="1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218">
                <a:tc>
                  <a:txBody>
                    <a:bodyPr/>
                    <a:lstStyle/>
                    <a:p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Process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การประมวลผล</a:t>
                      </a:r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6218">
                <a:tc>
                  <a:txBody>
                    <a:bodyPr/>
                    <a:lstStyle/>
                    <a:p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Data</a:t>
                      </a:r>
                      <a:r>
                        <a:rPr lang="en-US" sz="2000" baseline="0" dirty="0">
                          <a:latin typeface="Kanit" pitchFamily="2" charset="-34"/>
                          <a:cs typeface="Kanit" pitchFamily="2" charset="-34"/>
                        </a:rPr>
                        <a:t> Flow</a:t>
                      </a:r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กระแสข้อมูล</a:t>
                      </a:r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6218">
                <a:tc>
                  <a:txBody>
                    <a:bodyPr/>
                    <a:lstStyle/>
                    <a:p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External</a:t>
                      </a:r>
                      <a:r>
                        <a:rPr lang="en-US" sz="2000" baseline="0" dirty="0">
                          <a:latin typeface="Kanit" pitchFamily="2" charset="-34"/>
                          <a:cs typeface="Kanit" pitchFamily="2" charset="-34"/>
                        </a:rPr>
                        <a:t> Entity</a:t>
                      </a:r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แหล่งที่มา/ปลายทางหรือสิ่งที่อยู่นอกขอบเขตระบบ</a:t>
                      </a:r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6218">
                <a:tc>
                  <a:txBody>
                    <a:bodyPr/>
                    <a:lstStyle/>
                    <a:p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Data</a:t>
                      </a:r>
                      <a:r>
                        <a:rPr lang="en-US" sz="2000" baseline="0" dirty="0">
                          <a:latin typeface="Kanit" pitchFamily="2" charset="-34"/>
                          <a:cs typeface="Kanit" pitchFamily="2" charset="-34"/>
                        </a:rPr>
                        <a:t> Store</a:t>
                      </a:r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แหล่งเก็บข้อมูล</a:t>
                      </a:r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6218">
                <a:tc>
                  <a:txBody>
                    <a:bodyPr/>
                    <a:lstStyle/>
                    <a:p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Kanit" pitchFamily="2" charset="-34"/>
                          <a:cs typeface="Kanit" pitchFamily="2" charset="-34"/>
                        </a:rPr>
                        <a:t>Real-Time Link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การเชื่อมโยงสื่อสารระยะไกล</a:t>
                      </a:r>
                    </a:p>
                    <a:p>
                      <a:pPr algn="l"/>
                      <a:r>
                        <a:rPr lang="th-TH" sz="2000" dirty="0">
                          <a:latin typeface="Kanit" pitchFamily="2" charset="-34"/>
                          <a:cs typeface="Kanit" pitchFamily="2" charset="-34"/>
                        </a:rPr>
                        <a:t>ที่มีการโต้ตอบกันแบบทันทีทันใด</a:t>
                      </a:r>
                      <a:endParaRPr lang="en-US" sz="2000" dirty="0">
                        <a:latin typeface="Kanit" pitchFamily="2" charset="-34"/>
                        <a:cs typeface="Kanit" pitchFamily="2" charset="-34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6" name="Group 25"/>
          <p:cNvGrpSpPr/>
          <p:nvPr/>
        </p:nvGrpSpPr>
        <p:grpSpPr>
          <a:xfrm>
            <a:off x="1510791" y="2357452"/>
            <a:ext cx="1426378" cy="727691"/>
            <a:chOff x="1115616" y="1844824"/>
            <a:chExt cx="1296144" cy="864096"/>
          </a:xfrm>
        </p:grpSpPr>
        <p:sp>
          <p:nvSpPr>
            <p:cNvPr id="27" name="Rounded Rectangle 26"/>
            <p:cNvSpPr/>
            <p:nvPr/>
          </p:nvSpPr>
          <p:spPr>
            <a:xfrm>
              <a:off x="1115616" y="1844824"/>
              <a:ext cx="1296144" cy="86409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1115616" y="2060848"/>
              <a:ext cx="1296144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9" name="Straight Arrow Connector 28"/>
          <p:cNvCxnSpPr/>
          <p:nvPr/>
        </p:nvCxnSpPr>
        <p:spPr>
          <a:xfrm>
            <a:off x="1455371" y="3589789"/>
            <a:ext cx="158417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600531" y="4182441"/>
            <a:ext cx="1296144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>
            <a:off x="1424731" y="5168314"/>
            <a:ext cx="1674113" cy="360040"/>
            <a:chOff x="953671" y="5085184"/>
            <a:chExt cx="1674113" cy="360040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71600" y="5085184"/>
              <a:ext cx="165618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953671" y="5427004"/>
              <a:ext cx="1656184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971600" y="5085184"/>
              <a:ext cx="0" cy="36004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1331640" y="5085184"/>
              <a:ext cx="0" cy="36004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/>
          <p:cNvGrpSpPr/>
          <p:nvPr/>
        </p:nvGrpSpPr>
        <p:grpSpPr>
          <a:xfrm>
            <a:off x="1416855" y="5995828"/>
            <a:ext cx="1646385" cy="440661"/>
            <a:chOff x="945795" y="5995828"/>
            <a:chExt cx="1646385" cy="440661"/>
          </a:xfrm>
        </p:grpSpPr>
        <p:cxnSp>
          <p:nvCxnSpPr>
            <p:cNvPr id="37" name="Straight Arrow Connector 36"/>
            <p:cNvCxnSpPr/>
            <p:nvPr/>
          </p:nvCxnSpPr>
          <p:spPr>
            <a:xfrm flipH="1">
              <a:off x="945795" y="6001697"/>
              <a:ext cx="936104" cy="43479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>
              <a:off x="1752509" y="5995828"/>
              <a:ext cx="123874" cy="38549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V="1">
              <a:off x="1734834" y="6013004"/>
              <a:ext cx="857346" cy="35114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9582684"/>
      </p:ext>
    </p:extLst>
  </p:cSld>
  <p:clrMapOvr>
    <a:masterClrMapping/>
  </p:clrMapOvr>
  <p:transition spd="slow">
    <p:push dir="u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465" y="716010"/>
            <a:ext cx="11029616" cy="1013800"/>
          </a:xfrm>
        </p:spPr>
        <p:txBody>
          <a:bodyPr anchor="ctr">
            <a:normAutofit/>
          </a:bodyPr>
          <a:lstStyle/>
          <a:p>
            <a:r>
              <a:rPr lang="th-TH" sz="4000" dirty="0">
                <a:latin typeface="Kanit" pitchFamily="2" charset="-34"/>
                <a:cs typeface="Kanit" pitchFamily="2" charset="-34"/>
              </a:rPr>
              <a:t>เริ่มต้นการเขียน </a:t>
            </a:r>
            <a:r>
              <a:rPr lang="en-US" sz="4000" dirty="0">
                <a:latin typeface="Kanit" pitchFamily="2" charset="-34"/>
                <a:cs typeface="Kanit" pitchFamily="2" charset="-34"/>
              </a:rPr>
              <a:t>Context Diagram</a:t>
            </a:r>
            <a:endParaRPr lang="th-TH" sz="40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94507" y="2105889"/>
            <a:ext cx="11319163" cy="396956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ต้องรู้ผู้ใช้งานระบบ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ต้องรู้กระบวนการทำงาน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th-TH" sz="2800" dirty="0">
                <a:solidFill>
                  <a:schemeClr val="tx1"/>
                </a:solidFill>
                <a:latin typeface="Kanit" pitchFamily="2" charset="-34"/>
                <a:cs typeface="Kanit" pitchFamily="2" charset="-34"/>
              </a:rPr>
              <a:t>ต้องรู้ว่าใช้ข้อมูลอะไรบ้าง</a:t>
            </a:r>
          </a:p>
        </p:txBody>
      </p:sp>
    </p:spTree>
    <p:extLst>
      <p:ext uri="{BB962C8B-B14F-4D97-AF65-F5344CB8AC3E}">
        <p14:creationId xmlns:p14="http://schemas.microsoft.com/office/powerpoint/2010/main" val="2370319817"/>
      </p:ext>
    </p:extLst>
  </p:cSld>
  <p:clrMapOvr>
    <a:masterClrMapping/>
  </p:clrMapOvr>
  <p:transition spd="slow">
    <p:push dir="u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66367" y="5926859"/>
            <a:ext cx="2133600" cy="365125"/>
          </a:xfrm>
        </p:spPr>
        <p:txBody>
          <a:bodyPr/>
          <a:lstStyle/>
          <a:p>
            <a:fld id="{97D22102-4FAC-46A0-A34F-FF174803DF19}" type="slidenum">
              <a:rPr lang="th-TH" sz="600" smtClean="0">
                <a:latin typeface="Kanit" pitchFamily="2" charset="-34"/>
                <a:cs typeface="Kanit" pitchFamily="2" charset="-34"/>
              </a:rPr>
              <a:pPr/>
              <a:t>66</a:t>
            </a:fld>
            <a:endParaRPr lang="th-TH" sz="600" dirty="0">
              <a:latin typeface="Kanit" pitchFamily="2" charset="-34"/>
              <a:cs typeface="Kanit" pitchFamily="2" charset="-34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905047" y="2855493"/>
            <a:ext cx="1944216" cy="1584176"/>
            <a:chOff x="3491880" y="3284984"/>
            <a:chExt cx="1944216" cy="1584176"/>
          </a:xfrm>
        </p:grpSpPr>
        <p:grpSp>
          <p:nvGrpSpPr>
            <p:cNvPr id="4" name="Group 3"/>
            <p:cNvGrpSpPr/>
            <p:nvPr/>
          </p:nvGrpSpPr>
          <p:grpSpPr>
            <a:xfrm>
              <a:off x="3491880" y="3284984"/>
              <a:ext cx="1944216" cy="1584176"/>
              <a:chOff x="3491880" y="3284984"/>
              <a:chExt cx="1944216" cy="1584176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3491880" y="3284984"/>
                <a:ext cx="1944216" cy="158417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sz="1800">
                  <a:latin typeface="Kanit" pitchFamily="2" charset="-34"/>
                  <a:cs typeface="Kanit" pitchFamily="2" charset="-34"/>
                </a:endParaRPr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3491880" y="3717032"/>
                <a:ext cx="194421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" name="TextBox 4"/>
            <p:cNvSpPr txBox="1"/>
            <p:nvPr/>
          </p:nvSpPr>
          <p:spPr>
            <a:xfrm>
              <a:off x="3707904" y="3933056"/>
              <a:ext cx="15121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dirty="0">
                  <a:latin typeface="Kanit" pitchFamily="2" charset="-34"/>
                  <a:cs typeface="Kanit" pitchFamily="2" charset="-34"/>
                </a:rPr>
                <a:t>ชื่อระบบ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1736695" y="1127301"/>
            <a:ext cx="2088232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Kanit" pitchFamily="2" charset="-34"/>
                <a:cs typeface="Kanit" pitchFamily="2" charset="-34"/>
              </a:rPr>
              <a:t>External Entity1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45407" y="1159062"/>
            <a:ext cx="2088232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Kanit" pitchFamily="2" charset="-34"/>
                <a:cs typeface="Kanit" pitchFamily="2" charset="-34"/>
              </a:rPr>
              <a:t>External Entity2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45407" y="5303765"/>
            <a:ext cx="2088232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Kanit" pitchFamily="2" charset="-34"/>
                <a:cs typeface="Kanit" pitchFamily="2" charset="-34"/>
              </a:rPr>
              <a:t>External Entity4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cxnSp>
        <p:nvCxnSpPr>
          <p:cNvPr id="11" name="Elbow Connector 10"/>
          <p:cNvCxnSpPr>
            <a:stCxn id="8" idx="3"/>
          </p:cNvCxnSpPr>
          <p:nvPr/>
        </p:nvCxnSpPr>
        <p:spPr>
          <a:xfrm>
            <a:off x="3824927" y="1595353"/>
            <a:ext cx="1890210" cy="1260140"/>
          </a:xfrm>
          <a:prstGeom prst="bentConnector3">
            <a:avLst>
              <a:gd name="adj1" fmla="val 99864"/>
            </a:avLst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6" idx="1"/>
            <a:endCxn id="8" idx="2"/>
          </p:cNvCxnSpPr>
          <p:nvPr/>
        </p:nvCxnSpPr>
        <p:spPr>
          <a:xfrm rot="10800000">
            <a:off x="2780811" y="2063405"/>
            <a:ext cx="2124236" cy="1584176"/>
          </a:xfrm>
          <a:prstGeom prst="bentConnector2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9" idx="1"/>
          </p:cNvCxnSpPr>
          <p:nvPr/>
        </p:nvCxnSpPr>
        <p:spPr>
          <a:xfrm rot="10800000" flipV="1">
            <a:off x="5877155" y="1627113"/>
            <a:ext cx="2268252" cy="1242269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6" idx="3"/>
            <a:endCxn id="9" idx="2"/>
          </p:cNvCxnSpPr>
          <p:nvPr/>
        </p:nvCxnSpPr>
        <p:spPr>
          <a:xfrm flipV="1">
            <a:off x="6849263" y="2095166"/>
            <a:ext cx="2340260" cy="1552415"/>
          </a:xfrm>
          <a:prstGeom prst="bentConnector2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endCxn id="18" idx="0"/>
          </p:cNvCxnSpPr>
          <p:nvPr/>
        </p:nvCxnSpPr>
        <p:spPr>
          <a:xfrm rot="10800000" flipV="1">
            <a:off x="2780811" y="3826730"/>
            <a:ext cx="2124236" cy="1445274"/>
          </a:xfrm>
          <a:prstGeom prst="bentConnector2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endCxn id="10" idx="0"/>
          </p:cNvCxnSpPr>
          <p:nvPr/>
        </p:nvCxnSpPr>
        <p:spPr>
          <a:xfrm>
            <a:off x="6849263" y="3826730"/>
            <a:ext cx="2340260" cy="1477035"/>
          </a:xfrm>
          <a:prstGeom prst="bentConnector2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3639303" y="4439669"/>
            <a:ext cx="2052228" cy="1300387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736695" y="5272004"/>
            <a:ext cx="2088232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Kanit" pitchFamily="2" charset="-34"/>
                <a:cs typeface="Kanit" pitchFamily="2" charset="-34"/>
              </a:rPr>
              <a:t>External Entity3</a:t>
            </a:r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cxnSp>
        <p:nvCxnSpPr>
          <p:cNvPr id="19" name="Elbow Connector 18"/>
          <p:cNvCxnSpPr>
            <a:stCxn id="10" idx="1"/>
            <a:endCxn id="6" idx="2"/>
          </p:cNvCxnSpPr>
          <p:nvPr/>
        </p:nvCxnSpPr>
        <p:spPr>
          <a:xfrm rot="10800000">
            <a:off x="5877155" y="4439669"/>
            <a:ext cx="2268252" cy="1332148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89023" y="1559349"/>
            <a:ext cx="1080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input1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input2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input3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80810" y="2334014"/>
            <a:ext cx="1311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output1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output2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output3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21543" y="1559349"/>
            <a:ext cx="1080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input1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input2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input3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85638" y="2351437"/>
            <a:ext cx="1311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output1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output2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output3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89023" y="4439669"/>
            <a:ext cx="1080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input1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input2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input3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01062" y="3775915"/>
            <a:ext cx="1311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output1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output2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output3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13159" y="4495995"/>
            <a:ext cx="1080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input1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input2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input3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01391" y="3775915"/>
            <a:ext cx="13118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output1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output2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- output3</a:t>
            </a:r>
          </a:p>
          <a:p>
            <a:endParaRPr lang="th-TH" sz="18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120856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8" grpId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49496" y="5940713"/>
            <a:ext cx="2133600" cy="365125"/>
          </a:xfrm>
        </p:spPr>
        <p:txBody>
          <a:bodyPr/>
          <a:lstStyle/>
          <a:p>
            <a:fld id="{97D22102-4FAC-46A0-A34F-FF174803DF19}" type="slidenum">
              <a:rPr lang="th-TH" sz="700" smtClean="0">
                <a:latin typeface="Kanit" pitchFamily="2" charset="-34"/>
                <a:cs typeface="Kanit" pitchFamily="2" charset="-34"/>
              </a:rPr>
              <a:pPr/>
              <a:t>67</a:t>
            </a:fld>
            <a:endParaRPr lang="th-TH" sz="700" dirty="0">
              <a:latin typeface="Kanit" pitchFamily="2" charset="-34"/>
              <a:cs typeface="Kanit" pitchFamily="2" charset="-34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988176" y="2869347"/>
            <a:ext cx="1944216" cy="1584176"/>
            <a:chOff x="3491880" y="3284984"/>
            <a:chExt cx="1944216" cy="1584176"/>
          </a:xfrm>
        </p:grpSpPr>
        <p:grpSp>
          <p:nvGrpSpPr>
            <p:cNvPr id="4" name="Group 3"/>
            <p:cNvGrpSpPr/>
            <p:nvPr/>
          </p:nvGrpSpPr>
          <p:grpSpPr>
            <a:xfrm>
              <a:off x="3491880" y="3284984"/>
              <a:ext cx="1944216" cy="1584176"/>
              <a:chOff x="3491880" y="3284984"/>
              <a:chExt cx="1944216" cy="1584176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3491880" y="3284984"/>
                <a:ext cx="1944216" cy="1584176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sz="2000">
                  <a:latin typeface="Kanit" pitchFamily="2" charset="-34"/>
                  <a:cs typeface="Kanit" pitchFamily="2" charset="-34"/>
                </a:endParaRPr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3491880" y="3717032"/>
                <a:ext cx="194421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" name="TextBox 4"/>
            <p:cNvSpPr txBox="1"/>
            <p:nvPr/>
          </p:nvSpPr>
          <p:spPr>
            <a:xfrm>
              <a:off x="3707904" y="3933056"/>
              <a:ext cx="15121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800" dirty="0">
                  <a:latin typeface="Kanit" pitchFamily="2" charset="-34"/>
                  <a:cs typeface="Kanit" pitchFamily="2" charset="-34"/>
                </a:rPr>
                <a:t>ระบบประเมินผู้สอนออนไลน์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1819824" y="1141155"/>
            <a:ext cx="2088232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>
                <a:latin typeface="Kanit" pitchFamily="2" charset="-34"/>
                <a:cs typeface="Kanit" pitchFamily="2" charset="-34"/>
              </a:rPr>
              <a:t>นักศึกษา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8536" y="1172916"/>
            <a:ext cx="2088232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>
                <a:latin typeface="Kanit" pitchFamily="2" charset="-34"/>
                <a:cs typeface="Kanit" pitchFamily="2" charset="-34"/>
              </a:rPr>
              <a:t>อาจารย์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8536" y="5317619"/>
            <a:ext cx="2088232" cy="936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>
                <a:latin typeface="Kanit" pitchFamily="2" charset="-34"/>
                <a:cs typeface="Kanit" pitchFamily="2" charset="-34"/>
              </a:rPr>
              <a:t>เจ้าหน้าที่</a:t>
            </a:r>
          </a:p>
          <a:p>
            <a:pPr algn="ctr"/>
            <a:r>
              <a:rPr lang="th-TH" sz="2000" dirty="0">
                <a:latin typeface="Kanit" pitchFamily="2" charset="-34"/>
                <a:cs typeface="Kanit" pitchFamily="2" charset="-34"/>
              </a:rPr>
              <a:t>งานทะเบียน</a:t>
            </a:r>
          </a:p>
        </p:txBody>
      </p:sp>
      <p:cxnSp>
        <p:nvCxnSpPr>
          <p:cNvPr id="11" name="Elbow Connector 10"/>
          <p:cNvCxnSpPr>
            <a:stCxn id="8" idx="3"/>
          </p:cNvCxnSpPr>
          <p:nvPr/>
        </p:nvCxnSpPr>
        <p:spPr>
          <a:xfrm>
            <a:off x="3908056" y="1609207"/>
            <a:ext cx="1890210" cy="1260140"/>
          </a:xfrm>
          <a:prstGeom prst="bentConnector3">
            <a:avLst>
              <a:gd name="adj1" fmla="val 99864"/>
            </a:avLst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6" idx="1"/>
            <a:endCxn id="8" idx="2"/>
          </p:cNvCxnSpPr>
          <p:nvPr/>
        </p:nvCxnSpPr>
        <p:spPr>
          <a:xfrm rot="10800000">
            <a:off x="2863940" y="2077259"/>
            <a:ext cx="2124236" cy="1584176"/>
          </a:xfrm>
          <a:prstGeom prst="bentConnector2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9" idx="1"/>
          </p:cNvCxnSpPr>
          <p:nvPr/>
        </p:nvCxnSpPr>
        <p:spPr>
          <a:xfrm rot="10800000" flipV="1">
            <a:off x="5960284" y="1640967"/>
            <a:ext cx="2268252" cy="1242269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6" idx="3"/>
            <a:endCxn id="9" idx="2"/>
          </p:cNvCxnSpPr>
          <p:nvPr/>
        </p:nvCxnSpPr>
        <p:spPr>
          <a:xfrm flipV="1">
            <a:off x="6932392" y="2109020"/>
            <a:ext cx="2340260" cy="1552415"/>
          </a:xfrm>
          <a:prstGeom prst="bentConnector2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endCxn id="10" idx="0"/>
          </p:cNvCxnSpPr>
          <p:nvPr/>
        </p:nvCxnSpPr>
        <p:spPr>
          <a:xfrm>
            <a:off x="6932392" y="3840584"/>
            <a:ext cx="2340260" cy="1477035"/>
          </a:xfrm>
          <a:prstGeom prst="bentConnector2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10" idx="1"/>
            <a:endCxn id="6" idx="2"/>
          </p:cNvCxnSpPr>
          <p:nvPr/>
        </p:nvCxnSpPr>
        <p:spPr>
          <a:xfrm rot="10800000">
            <a:off x="5960284" y="4453523"/>
            <a:ext cx="2268252" cy="1332148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09654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1_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4633</TotalTime>
  <Words>3472</Words>
  <Application>Microsoft Office PowerPoint</Application>
  <PresentationFormat>แบบจอกว้าง</PresentationFormat>
  <Paragraphs>511</Paragraphs>
  <Slides>67</Slides>
  <Notes>7</Notes>
  <HiddenSlides>0</HiddenSlides>
  <MMClips>0</MMClips>
  <ScaleCrop>false</ScaleCrop>
  <HeadingPairs>
    <vt:vector size="8" baseType="variant">
      <vt:variant>
        <vt:lpstr>ฟอนต์ที่ถูกใช้</vt:lpstr>
      </vt:variant>
      <vt:variant>
        <vt:i4>7</vt:i4>
      </vt:variant>
      <vt:variant>
        <vt:lpstr>ธีม</vt:lpstr>
      </vt:variant>
      <vt:variant>
        <vt:i4>2</vt:i4>
      </vt:variant>
      <vt:variant>
        <vt:lpstr>เซิร์ฟเวอร์ OLE ฝังตัว</vt:lpstr>
      </vt:variant>
      <vt:variant>
        <vt:i4>1</vt:i4>
      </vt:variant>
      <vt:variant>
        <vt:lpstr>ชื่อเรื่องสไลด์</vt:lpstr>
      </vt:variant>
      <vt:variant>
        <vt:i4>67</vt:i4>
      </vt:variant>
    </vt:vector>
  </HeadingPairs>
  <TitlesOfParts>
    <vt:vector size="77" baseType="lpstr">
      <vt:lpstr>Calibri</vt:lpstr>
      <vt:lpstr>Gill Sans MT</vt:lpstr>
      <vt:lpstr>Kanit</vt:lpstr>
      <vt:lpstr>Prompt</vt:lpstr>
      <vt:lpstr>TH Sarabun New</vt:lpstr>
      <vt:lpstr>Wingdings</vt:lpstr>
      <vt:lpstr>Wingdings 2</vt:lpstr>
      <vt:lpstr>Dividend</vt:lpstr>
      <vt:lpstr>1_Dividend</vt:lpstr>
      <vt:lpstr>SmartDraw</vt:lpstr>
      <vt:lpstr>บทที่ 5 แบบจำลองกระบวนการ</vt:lpstr>
      <vt:lpstr>บทที่ 5 แบบจำลองกระบวนการ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จุดประสงค์ของแบบจำลอง</vt:lpstr>
      <vt:lpstr>ชนิดของแบบจำลอง</vt:lpstr>
      <vt:lpstr>ชนิดของแบบจำลอง</vt:lpstr>
      <vt:lpstr>ชนิดของแบบจำลอง</vt:lpstr>
      <vt:lpstr>ภาพรวมของแบบจำลองที่นำมาใช้กับงานวิเคราะห์และออกแบบ</vt:lpstr>
      <vt:lpstr>ภาพรวมของแบบจำลองที่นำมาใช้กับงานวิเคราะห์และออกแบบ</vt:lpstr>
      <vt:lpstr>แบบจำลองกระบวนการ (Process Model)</vt:lpstr>
      <vt:lpstr>Any questions?</vt:lpstr>
      <vt:lpstr>แผนภาพกระแสข้อมูล (Data flow diagram: Dfd)</vt:lpstr>
      <vt:lpstr>ขั้นตอนการสร้างแผนภาพกระแสข้อมูล</vt:lpstr>
      <vt:lpstr>วัตถุประสงค์ของแผนภาพกระแสข้อมูล</vt:lpstr>
      <vt:lpstr>สัญลักษณ์แผนภาพกระแสข้อมูล</vt:lpstr>
      <vt:lpstr>สัญลักษณ์แผนภาพกระแสข้อมูล DeMarco &amp; Yourdon</vt:lpstr>
      <vt:lpstr>สัญลักษณ์แผนภาพกระแสข้อมูล DeMarco &amp; Yourdon</vt:lpstr>
      <vt:lpstr>สัญลักษณ์แผนภาพกระแสข้อมูล DeMarco &amp; Yourdon</vt:lpstr>
      <vt:lpstr>สัญลักษณ์แผนภาพกระแสข้อมูล DeMarco &amp; Yourdon</vt:lpstr>
      <vt:lpstr>สัญลักษณ์แผนภาพกระแสข้อมูล DeMarco &amp; Yourdon</vt:lpstr>
      <vt:lpstr>สัญลักษณ์แผนภาพกระแสข้อมูล DeMarco &amp; Yourdon</vt:lpstr>
      <vt:lpstr>วิธีการสร้างแผนภาพกระแสข้อมูล</vt:lpstr>
      <vt:lpstr>แผนภาพบริบท (Context diagram)</vt:lpstr>
      <vt:lpstr>แผนภาพระดับที่ 0</vt:lpstr>
      <vt:lpstr>หลักการสร้างแผนภาพระดับที่ 0</vt:lpstr>
      <vt:lpstr>แผนภาพระดับล่าง</vt:lpstr>
      <vt:lpstr>ความสัมพันธ์ของแผนภาพกระแสข้อมูลแต่ละระดับ </vt:lpstr>
      <vt:lpstr>ความสัมพันธ์ของแผนภาพกระแสข้อมูลแต่ละระดับ </vt:lpstr>
      <vt:lpstr>งานนำเสนอ PowerPoint</vt:lpstr>
      <vt:lpstr>กระบวนการทำงาน (Process)</vt:lpstr>
      <vt:lpstr>งานนำเสนอ PowerPoint</vt:lpstr>
      <vt:lpstr>งานนำเสนอ PowerPoint</vt:lpstr>
      <vt:lpstr>หลักการกำหนดกระบวนการทำงาน (ต่อ)</vt:lpstr>
      <vt:lpstr>หลักการกำหนดกระบวนการทำงาน (ต่อ)</vt:lpstr>
      <vt:lpstr>หลักการกำหนดกระบวนการทำงาน (ต่อ)</vt:lpstr>
      <vt:lpstr>เอนทิตีภายนอก (External entity)</vt:lpstr>
      <vt:lpstr>เอนทิตีภายนอก (External entity) (ต่อ)</vt:lpstr>
      <vt:lpstr>กระแสข้อมูล (Data Flow) </vt:lpstr>
      <vt:lpstr>งานนำเสนอ PowerPoint</vt:lpstr>
      <vt:lpstr>แหล่งเก็บข้อมูล (Data store)</vt:lpstr>
      <vt:lpstr>กฎในการสร้างแผนภาพกระแสข้อมูล</vt:lpstr>
      <vt:lpstr>กฎในการสร้างแผนภาพกระแสข้อมูล</vt:lpstr>
      <vt:lpstr>กฎในการสร้างแผนภาพกระแสข้อมูล</vt:lpstr>
      <vt:lpstr>กฎในการสร้างแผนภาพกระแสข้อมูล</vt:lpstr>
      <vt:lpstr>กฎในการสร้างแผนภาพกระแสข้อมูล</vt:lpstr>
      <vt:lpstr>กฎในการสร้างแผนภาพกระแสข้อมูล</vt:lpstr>
      <vt:lpstr>กฎในการสร้างแผนภาพกระแสข้อมูล</vt:lpstr>
      <vt:lpstr>กฎในการสร้างแผนภาพกระแสข้อมูล</vt:lpstr>
      <vt:lpstr>กฎในการสร้างแผนภาพกระแสข้อมูล</vt:lpstr>
      <vt:lpstr>สัญลักษณ์ที่ใช้ในแผนภาพกระแสข้อมูล (Gane &amp; Sarson)</vt:lpstr>
      <vt:lpstr>เริ่มต้นการเขียน Context Diagram</vt:lpstr>
      <vt:lpstr>งานนำเสนอ PowerPoint</vt:lpstr>
      <vt:lpstr>งานนำเสนอ PowerPoint</vt:lpstr>
      <vt:lpstr>กิจกรรมกลุ่ม</vt:lpstr>
      <vt:lpstr>การเขียน DFD Fragment</vt:lpstr>
      <vt:lpstr>ดาต้าสโตร์ (Data Stores)</vt:lpstr>
      <vt:lpstr>ดาต้าสโตร์ (Data Stores)</vt:lpstr>
      <vt:lpstr>กิจกรรมกลุ่ม</vt:lpstr>
      <vt:lpstr>งานนำเสนอ PowerPoint</vt:lpstr>
      <vt:lpstr>สัญลักษณ์ที่ใช้ในแผนภาพกระแสข้อมูล (Gane &amp; Sarson)</vt:lpstr>
      <vt:lpstr>เริ่มต้นการเขียน Context Diagram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บทที่ 1  ความรู้ด้านธุรกิจและเทคโนโลยีสารสนเทศ</dc:title>
  <dc:creator>Windows User</dc:creator>
  <cp:lastModifiedBy>Pakawat Vihokratana</cp:lastModifiedBy>
  <cp:revision>847</cp:revision>
  <dcterms:created xsi:type="dcterms:W3CDTF">2023-03-22T07:54:09Z</dcterms:created>
  <dcterms:modified xsi:type="dcterms:W3CDTF">2025-12-09T06:15:06Z</dcterms:modified>
</cp:coreProperties>
</file>