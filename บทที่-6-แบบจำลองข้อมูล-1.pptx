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7" r:id="rId2"/>
    <p:sldId id="258" r:id="rId3"/>
    <p:sldId id="359" r:id="rId4"/>
    <p:sldId id="336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9" r:id="rId21"/>
    <p:sldId id="376" r:id="rId22"/>
    <p:sldId id="380" r:id="rId23"/>
    <p:sldId id="377" r:id="rId24"/>
    <p:sldId id="378" r:id="rId25"/>
    <p:sldId id="290" r:id="rId2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FF66"/>
    <a:srgbClr val="FFCC99"/>
    <a:srgbClr val="FFCCFF"/>
    <a:srgbClr val="231F20"/>
    <a:srgbClr val="FEF200"/>
    <a:srgbClr val="ED008C"/>
    <a:srgbClr val="01AEF0"/>
    <a:srgbClr val="FF505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8BB16-A843-4CF4-833C-5E418F8370FC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02F9E-5F50-4C1E-8621-7AAF142C3CC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42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9985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chapter in today have a 3 topics 1. The importance of images in communication 2. Types and characteristics of images and 3. Photo captions.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573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394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667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242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58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8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89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52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853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174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119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976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24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676" y="1463773"/>
            <a:ext cx="10993549" cy="1322290"/>
          </a:xfrm>
        </p:spPr>
        <p:txBody>
          <a:bodyPr>
            <a:normAutofit fontScale="90000"/>
          </a:bodyPr>
          <a:lstStyle/>
          <a:p>
            <a:pPr algn="ctr"/>
            <a:r>
              <a:rPr lang="th-TH" sz="4400" dirty="0" smtClean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4400" dirty="0">
                <a:latin typeface="Kanit" pitchFamily="2" charset="-34"/>
                <a:cs typeface="Kanit" pitchFamily="2" charset="-34"/>
              </a:rPr>
              <a:t>6</a:t>
            </a:r>
            <a:r>
              <a:rPr lang="en-US" sz="4400" dirty="0">
                <a:latin typeface="Kanit" pitchFamily="2" charset="-34"/>
                <a:cs typeface="Kanit" pitchFamily="2" charset="-34"/>
              </a:rPr>
              <a:t/>
            </a:r>
            <a:br>
              <a:rPr lang="en-US" sz="4400" dirty="0">
                <a:latin typeface="Kanit" pitchFamily="2" charset="-34"/>
                <a:cs typeface="Kanit" pitchFamily="2" charset="-34"/>
              </a:rPr>
            </a:br>
            <a:r>
              <a:rPr lang="th-TH" sz="4000" dirty="0" smtClean="0">
                <a:latin typeface="Kanit" pitchFamily="2" charset="-34"/>
                <a:cs typeface="Kanit" pitchFamily="2" charset="-34"/>
              </a:rPr>
              <a:t>แบบจำลองข้อมูล</a:t>
            </a:r>
            <a:r>
              <a:rPr lang="en-US" sz="4000" dirty="0" smtClean="0">
                <a:latin typeface="Kanit" pitchFamily="2" charset="-34"/>
                <a:cs typeface="Kanit" pitchFamily="2" charset="-34"/>
              </a:rPr>
              <a:t> </a:t>
            </a:r>
            <a:r>
              <a:rPr lang="en-US" sz="4000" dirty="0" smtClean="0">
                <a:latin typeface="Kanit" pitchFamily="2" charset="-34"/>
                <a:cs typeface="Kanit" pitchFamily="2" charset="-34"/>
              </a:rPr>
              <a:t>(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Data  Modeling</a:t>
            </a:r>
            <a:r>
              <a:rPr lang="en-US" sz="4000" dirty="0" smtClean="0">
                <a:latin typeface="Kanit" pitchFamily="2" charset="-34"/>
                <a:cs typeface="Kanit" pitchFamily="2" charset="-34"/>
              </a:rPr>
              <a:t>)</a:t>
            </a:r>
            <a:r>
              <a:rPr lang="th-TH" sz="4000" dirty="0" smtClean="0">
                <a:latin typeface="Kanit" pitchFamily="2" charset="-34"/>
                <a:cs typeface="Kanit" pitchFamily="2" charset="-34"/>
              </a:rPr>
              <a:t> </a:t>
            </a:r>
            <a:endParaRPr lang="th-TH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2261" y="5881457"/>
            <a:ext cx="533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Miss </a:t>
            </a:r>
            <a:r>
              <a:rPr lang="en-US" sz="1800" dirty="0" err="1" smtClean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Piyada</a:t>
            </a:r>
            <a:r>
              <a:rPr lang="en-US" sz="1800" dirty="0" smtClean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 </a:t>
            </a:r>
            <a:r>
              <a:rPr lang="en-US" sz="1800" dirty="0" err="1" smtClean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Losantia</a:t>
            </a:r>
            <a:r>
              <a:rPr lang="en-US" sz="1800" dirty="0" smtClean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, Information System, RMUTI</a:t>
            </a:r>
            <a:endParaRPr lang="th-TH" sz="18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76" y="622776"/>
            <a:ext cx="2599324" cy="7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221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821844"/>
          </a:xfrm>
        </p:spPr>
        <p:txBody>
          <a:bodyPr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6</a:t>
            </a:r>
            <a:r>
              <a:rPr lang="en-US" sz="3200" dirty="0" smtClean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แบบจำลองข้อมูล </a:t>
            </a:r>
            <a:endParaRPr lang="th-TH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80659" y="2078179"/>
            <a:ext cx="8659086" cy="3893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Process Model Vs Data </a:t>
            </a:r>
            <a:r>
              <a:rPr lang="en-US" sz="2800" dirty="0" smtClean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Model</a:t>
            </a:r>
            <a:endParaRPr lang="th-TH" sz="2800" dirty="0" smtClean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Entity Relationship Diagram (ERD</a:t>
            </a:r>
            <a:r>
              <a:rPr lang="en-US" sz="2800" dirty="0" smtClean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Data Dictionary</a:t>
            </a:r>
            <a:endParaRPr lang="th-TH" sz="2800" dirty="0" smtClean="0">
              <a:solidFill>
                <a:schemeClr val="tx1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591014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Process Model Vs Data Model</a:t>
            </a:r>
            <a:endParaRPr lang="en-US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1192" y="2108128"/>
            <a:ext cx="1102961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thaiDist">
              <a:lnSpc>
                <a:spcPct val="150000"/>
              </a:lnSpc>
            </a:pPr>
            <a:r>
              <a:rPr lang="en-US" sz="3200" b="1" dirty="0" smtClean="0">
                <a:solidFill>
                  <a:schemeClr val="accent1"/>
                </a:solidFill>
                <a:latin typeface="Kanit" pitchFamily="2" charset="-34"/>
                <a:cs typeface="Kanit" pitchFamily="2" charset="-34"/>
              </a:rPr>
              <a:t>Process Model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 smtClean="0">
                <a:latin typeface="Kanit" pitchFamily="2" charset="-34"/>
                <a:cs typeface="Kanit" pitchFamily="2" charset="-34"/>
              </a:rPr>
              <a:t>เป็นแบบจำลองกระบวนการหรือแผนภาพกระแสข้อมูล เพื่อแสดงถึง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ขั้นตอน</a:t>
            </a:r>
            <a:br>
              <a:rPr lang="th-TH" sz="2400" dirty="0" smtClean="0">
                <a:latin typeface="Kanit" pitchFamily="2" charset="-34"/>
                <a:cs typeface="Kanit" pitchFamily="2" charset="-34"/>
              </a:rPr>
            </a:br>
            <a:r>
              <a:rPr lang="th-TH" sz="2400" dirty="0" smtClean="0">
                <a:latin typeface="Kanit" pitchFamily="2" charset="-34"/>
                <a:cs typeface="Kanit" pitchFamily="2" charset="-34"/>
              </a:rPr>
              <a:t>การ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ปฎิบัติงานทางธุรกิจ 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 smtClean="0">
                <a:latin typeface="Kanit" pitchFamily="2" charset="-34"/>
                <a:cs typeface="Kanit" pitchFamily="2" charset="-34"/>
              </a:rPr>
              <a:t>มีข้อมูลอะไรบ้างที่ไหลผ่านกระบวนการ</a:t>
            </a:r>
            <a:endParaRPr lang="en-US" dirty="0" smtClean="0">
              <a:latin typeface="Kanit" pitchFamily="2" charset="-34"/>
              <a:cs typeface="Kanit" pitchFamily="2" charset="-34"/>
            </a:endParaRPr>
          </a:p>
          <a:p>
            <a:pPr marL="0" lvl="1" algn="thaiDist"/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192" y="4508156"/>
            <a:ext cx="11029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thaiDist">
              <a:lnSpc>
                <a:spcPct val="150000"/>
              </a:lnSpc>
            </a:pPr>
            <a:r>
              <a:rPr lang="en-US" sz="3200" b="1" dirty="0" smtClean="0">
                <a:solidFill>
                  <a:schemeClr val="accent1"/>
                </a:solidFill>
                <a:latin typeface="Kanit" pitchFamily="2" charset="-34"/>
                <a:cs typeface="Kanit" pitchFamily="2" charset="-34"/>
              </a:rPr>
              <a:t>Data Models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 smtClean="0">
                <a:latin typeface="Kanit" pitchFamily="2" charset="-34"/>
                <a:cs typeface="Kanit" pitchFamily="2" charset="-34"/>
              </a:rPr>
              <a:t>แบบจำลองข้อมูล</a:t>
            </a:r>
          </a:p>
          <a:p>
            <a:pPr marL="571500" lvl="1" indent="-571500" algn="thaiDist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th-TH" sz="2400" dirty="0" smtClean="0">
                <a:latin typeface="Kanit" pitchFamily="2" charset="-34"/>
                <a:cs typeface="Kanit" pitchFamily="2" charset="-34"/>
              </a:rPr>
              <a:t>ใช้อธิบายโครงสร้างความสัมพันธ์ของข้อมูล ว่าข้อมูล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นั้นมีความสัมพันธ์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กันอย่างไร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441114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Example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19836" y="6174647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Kanit" pitchFamily="2" charset="-34"/>
                <a:cs typeface="Kanit" pitchFamily="2" charset="-34"/>
              </a:rPr>
              <a:t>Process Model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5" name="Picture 2" descr="https://scontent.fbkk3-1.fna.fbcdn.net/v/t1.15752-9/39091721_271984516949255_7935421734033817600_n.jpg?_nc_cat=0&amp;_nc_eui2=AeETOtGymBRssfBXgNZ8VoUqECOmgxdYR5A4pbyQ_f2LFOWbvzSSjizIAFitfMte5826AK3eMpYMku_fHMhw8qll6ZJoKU0DthnnLciIIbSQqQ&amp;oh=8698931b39d73270eff49e0f229db3f7&amp;oe=5BFB98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74" y="1985557"/>
            <a:ext cx="9264852" cy="418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456041" y="3301751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71501" y="4653315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65163" y="5113073"/>
            <a:ext cx="1584176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19778" y="5630984"/>
            <a:ext cx="1562650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68291" y="5603274"/>
            <a:ext cx="1368152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4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49715" y="6112668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Kanit" pitchFamily="2" charset="-34"/>
                <a:cs typeface="Kanit" pitchFamily="2" charset="-34"/>
              </a:rPr>
              <a:t>Data </a:t>
            </a:r>
            <a:r>
              <a:rPr lang="en-US" sz="3200" dirty="0" smtClean="0">
                <a:latin typeface="Kanit" pitchFamily="2" charset="-34"/>
                <a:cs typeface="Kanit" pitchFamily="2" charset="-34"/>
              </a:rPr>
              <a:t>Model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9946" y="1050268"/>
            <a:ext cx="5010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Concept Database Design</a:t>
            </a:r>
            <a:endParaRPr lang="en-US" sz="32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7447" y="1990728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/>
          <p:cNvSpPr/>
          <p:nvPr/>
        </p:nvSpPr>
        <p:spPr>
          <a:xfrm>
            <a:off x="5317767" y="1905713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31325" y="1990728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3"/>
            <a:endCxn id="6" idx="1"/>
          </p:cNvCxnSpPr>
          <p:nvPr/>
        </p:nvCxnSpPr>
        <p:spPr>
          <a:xfrm>
            <a:off x="4165639" y="2386772"/>
            <a:ext cx="11521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3"/>
            <a:endCxn id="7" idx="1"/>
          </p:cNvCxnSpPr>
          <p:nvPr/>
        </p:nvCxnSpPr>
        <p:spPr>
          <a:xfrm>
            <a:off x="7189975" y="2386772"/>
            <a:ext cx="1141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2365439" y="3559906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65439" y="507406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89775" y="363390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stCxn id="5" idx="2"/>
            <a:endCxn id="10" idx="0"/>
          </p:cNvCxnSpPr>
          <p:nvPr/>
        </p:nvCxnSpPr>
        <p:spPr>
          <a:xfrm>
            <a:off x="3301543" y="2782816"/>
            <a:ext cx="0" cy="777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2"/>
          </p:cNvCxnSpPr>
          <p:nvPr/>
        </p:nvCxnSpPr>
        <p:spPr>
          <a:xfrm>
            <a:off x="3301543" y="4522024"/>
            <a:ext cx="0" cy="5520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3"/>
            <a:endCxn id="12" idx="1"/>
          </p:cNvCxnSpPr>
          <p:nvPr/>
        </p:nvCxnSpPr>
        <p:spPr>
          <a:xfrm flipV="1">
            <a:off x="4237647" y="4029949"/>
            <a:ext cx="1152128" cy="11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2"/>
            <a:endCxn id="12" idx="0"/>
          </p:cNvCxnSpPr>
          <p:nvPr/>
        </p:nvCxnSpPr>
        <p:spPr>
          <a:xfrm>
            <a:off x="6253871" y="2867831"/>
            <a:ext cx="0" cy="766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5389775" y="4972090"/>
            <a:ext cx="1872208" cy="96211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1" idx="3"/>
            <a:endCxn id="17" idx="1"/>
          </p:cNvCxnSpPr>
          <p:nvPr/>
        </p:nvCxnSpPr>
        <p:spPr>
          <a:xfrm flipV="1">
            <a:off x="4093631" y="5453149"/>
            <a:ext cx="1296144" cy="16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31325" y="5057105"/>
            <a:ext cx="1728192" cy="79208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endCxn id="23" idx="1"/>
          </p:cNvCxnSpPr>
          <p:nvPr/>
        </p:nvCxnSpPr>
        <p:spPr>
          <a:xfrm>
            <a:off x="7189975" y="5453149"/>
            <a:ext cx="1141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666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7438" y="980223"/>
            <a:ext cx="6104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Logical Database Design</a:t>
            </a:r>
            <a:endParaRPr lang="en-US" sz="32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3" name="Picture 2" descr="à¸£à¸¹à¸à¸ à¸²à¸à¸à¸µà¹à¹à¸à¸µà¹à¸¢à¸§à¸à¹à¸­à¸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47" y="1786672"/>
            <a:ext cx="8736707" cy="255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818501"/>
              </p:ext>
            </p:extLst>
          </p:nvPr>
        </p:nvGraphicFramePr>
        <p:xfrm>
          <a:off x="1727647" y="4714848"/>
          <a:ext cx="4562316" cy="158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8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55765"/>
              </p:ext>
            </p:extLst>
          </p:nvPr>
        </p:nvGraphicFramePr>
        <p:xfrm>
          <a:off x="6830290" y="4714848"/>
          <a:ext cx="3422073" cy="158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8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310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111" y="977165"/>
            <a:ext cx="5439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Physical Database Design</a:t>
            </a:r>
            <a:endParaRPr lang="en-US" sz="32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73" y="1569192"/>
            <a:ext cx="9000255" cy="29231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34395"/>
              </p:ext>
            </p:extLst>
          </p:nvPr>
        </p:nvGraphicFramePr>
        <p:xfrm>
          <a:off x="4966761" y="4492352"/>
          <a:ext cx="5009160" cy="205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17586"/>
              </p:ext>
            </p:extLst>
          </p:nvPr>
        </p:nvGraphicFramePr>
        <p:xfrm>
          <a:off x="2078182" y="4492352"/>
          <a:ext cx="1454665" cy="205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512096" y="4755591"/>
            <a:ext cx="1440160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512096" y="4755591"/>
            <a:ext cx="1440160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512096" y="5295651"/>
            <a:ext cx="1440160" cy="1044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881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Entity Relationship Diagram (ERD)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81192" y="1872710"/>
            <a:ext cx="11029616" cy="4801736"/>
          </a:xfrm>
        </p:spPr>
        <p:txBody>
          <a:bodyPr>
            <a:noAutofit/>
          </a:bodyPr>
          <a:lstStyle/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เป็นแผนภาพที่ทำหน้าที่</a:t>
            </a:r>
            <a:r>
              <a:rPr lang="th-TH" sz="2800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จำลองข้อมูลที่มีความสัมพันธ์กัน</a:t>
            </a: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เป็นการออกแบบฐานข้อมูลในระดับ </a:t>
            </a:r>
            <a:r>
              <a:rPr lang="en-US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Conceptual</a:t>
            </a: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เป็นแบบจำลองข้อมูลที่แสดงถึงโครงสร้างฐานข้อมูลที่เป็นอิสระจาก </a:t>
            </a:r>
            <a:r>
              <a:rPr lang="en-US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Software </a:t>
            </a: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ที่จะใช้พัฒนาฐานข้อมูล (ไม่ขึ้นกับ </a:t>
            </a:r>
            <a:r>
              <a:rPr lang="en-US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Software)</a:t>
            </a:r>
            <a:endParaRPr lang="th-TH" sz="28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algn="thaiDist" eaLnBrk="1" hangingPunct="1">
              <a:lnSpc>
                <a:spcPct val="150000"/>
              </a:lnSpc>
              <a:defRPr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ทำให้บุคลากรเข้าใจในระบบฐานข้อมูลได้</a:t>
            </a: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ง่าย</a:t>
            </a:r>
            <a:endParaRPr lang="en-US" sz="28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16183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Entity Relationship Diagram (ERD)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5854" y="1886566"/>
            <a:ext cx="10834954" cy="48017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ERD </a:t>
            </a: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มีหลายรูปแบบ และไม่มีมาตรฐานตายตัว</a:t>
            </a:r>
          </a:p>
          <a:p>
            <a:pPr>
              <a:lnSpc>
                <a:spcPct val="150000"/>
              </a:lnSpc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แต่มีหลักการหรือส่วนประกอบเท่านั้น ที่คล้ายคลึงกัน กล่าวคือ </a:t>
            </a:r>
          </a:p>
          <a:p>
            <a:pPr>
              <a:lnSpc>
                <a:spcPct val="150000"/>
              </a:lnSpc>
            </a:pPr>
            <a:r>
              <a:rPr lang="th-TH" sz="2800" dirty="0" smtClean="0">
                <a:solidFill>
                  <a:schemeClr val="tx1"/>
                </a:solidFill>
                <a:effectLst/>
                <a:latin typeface="Kanit" pitchFamily="2" charset="-34"/>
                <a:cs typeface="Kanit" pitchFamily="2" charset="-34"/>
              </a:rPr>
              <a:t>มีองค์ประกอบที่ประกอบด้วยโครงสร้าง ดังนี้</a:t>
            </a: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 smtClean="0">
                <a:solidFill>
                  <a:srgbClr val="FF0000"/>
                </a:solidFill>
                <a:effectLst/>
                <a:latin typeface="Kanit" pitchFamily="2" charset="-34"/>
                <a:cs typeface="Kanit" pitchFamily="2" charset="-34"/>
              </a:rPr>
              <a:t> Entity</a:t>
            </a:r>
            <a:endParaRPr lang="en-US" sz="2800" dirty="0" smtClean="0">
              <a:solidFill>
                <a:srgbClr val="FF0000"/>
              </a:solidFill>
              <a:effectLst/>
              <a:latin typeface="Kanit" pitchFamily="2" charset="-34"/>
              <a:cs typeface="Kanit" pitchFamily="2" charset="-34"/>
            </a:endParaRP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 Attribute</a:t>
            </a:r>
            <a:endParaRPr lang="en-US" sz="2800" dirty="0" smtClean="0">
              <a:solidFill>
                <a:srgbClr val="FF0000"/>
              </a:solidFill>
              <a:effectLst/>
              <a:latin typeface="Kanit" pitchFamily="2" charset="-34"/>
              <a:cs typeface="Kanit" pitchFamily="2" charset="-34"/>
            </a:endParaRPr>
          </a:p>
          <a:p>
            <a:pPr lvl="2">
              <a:lnSpc>
                <a:spcPct val="150000"/>
              </a:lnSpc>
              <a:buClrTx/>
              <a:buFont typeface="Wingdings" pitchFamily="2" charset="2"/>
              <a:buChar char="v"/>
              <a:defRPr/>
            </a:pPr>
            <a:r>
              <a:rPr lang="en-US" sz="2800" dirty="0" smtClean="0">
                <a:solidFill>
                  <a:srgbClr val="FF0000"/>
                </a:solidFill>
                <a:effectLst/>
                <a:latin typeface="Kanit" pitchFamily="2" charset="-34"/>
                <a:cs typeface="Kanit" pitchFamily="2" charset="-34"/>
              </a:rPr>
              <a:t> Relationship</a:t>
            </a:r>
            <a:endParaRPr lang="en-US" sz="2800" dirty="0" smtClean="0">
              <a:solidFill>
                <a:srgbClr val="FF0000"/>
              </a:solidFill>
              <a:effectLst/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18370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 smtClean="0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1357299"/>
            <a:ext cx="11264444" cy="4794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b="1" dirty="0" err="1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เอ</a:t>
            </a:r>
            <a:r>
              <a:rPr lang="th-TH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็นทิตี้</a:t>
            </a:r>
            <a:r>
              <a:rPr lang="en-US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(</a:t>
            </a:r>
            <a:r>
              <a:rPr lang="en-US" sz="2800" b="1" dirty="0" err="1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Entitys</a:t>
            </a:r>
            <a:r>
              <a:rPr lang="en-US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)</a:t>
            </a:r>
            <a:r>
              <a:rPr lang="th-TH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</a:p>
          <a:p>
            <a:pPr marL="0" indent="0">
              <a:buNone/>
              <a:defRPr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เป็นส่วนที่ใช้สำหรับเก็บข้อมูลแต่ละรายการภายในระบบที่เรากำลังจัดทำอยู่</a:t>
            </a:r>
          </a:p>
          <a:p>
            <a:pPr>
              <a:defRPr/>
            </a:pPr>
            <a:endParaRPr lang="th-TH" sz="1400" b="1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สัญลักษณ์ของเอ็นทิตี้ใน </a:t>
            </a:r>
            <a:r>
              <a:rPr lang="en-US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ERD</a:t>
            </a:r>
            <a:r>
              <a:rPr lang="th-TH" sz="2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endParaRPr lang="en-US" sz="2800" b="1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0" indent="0">
              <a:buNone/>
            </a:pPr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ใช้รูปสี่เหลี่ยมผืนผ้า และมีชื่อกำกับภายใน เป็นคำนาม มักเขียนด้วยตัวพิมพ์ใหญ่</a:t>
            </a:r>
            <a:endParaRPr lang="en-US" sz="28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1163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 smtClean="0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81192" y="1681533"/>
            <a:ext cx="8274496" cy="156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8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เอ็นทิตี้ แบ่งออกเป็น 2 ประเภทด้วยกัน</a:t>
            </a:r>
            <a:endParaRPr lang="en-US" sz="28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16573" y="3532907"/>
            <a:ext cx="2549236" cy="972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lg" len="lg"/>
          </a:ln>
        </p:spPr>
        <p:txBody>
          <a:bodyPr wrap="square" anchor="ctr">
            <a:spAutoFit/>
          </a:bodyPr>
          <a:lstStyle/>
          <a:p>
            <a:pPr algn="ctr" eaLnBrk="0" hangingPunct="0"/>
            <a:endParaRPr lang="th-TH" sz="1000" b="1" dirty="0" smtClean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pPr algn="ctr" eaLnBrk="0" hangingPunct="0"/>
            <a:r>
              <a:rPr lang="th-TH" sz="2400" b="1" dirty="0" smtClean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พนักงาน</a:t>
            </a:r>
          </a:p>
          <a:p>
            <a:pPr algn="ctr" eaLnBrk="0" hangingPunct="0"/>
            <a:endParaRPr lang="th-TH" sz="1000" b="1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788728" y="3532907"/>
            <a:ext cx="2613036" cy="988253"/>
            <a:chOff x="5893672" y="3285727"/>
            <a:chExt cx="1697181" cy="575524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001655" y="3354008"/>
              <a:ext cx="1457774" cy="4480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lg" len="lg"/>
            </a:ln>
          </p:spPr>
          <p:txBody>
            <a:bodyPr wrap="square">
              <a:spAutoFit/>
            </a:bodyPr>
            <a:lstStyle/>
            <a:p>
              <a:pPr algn="ctr" eaLnBrk="0" hangingPunct="0"/>
              <a:endParaRPr lang="th-TH" sz="1000" b="1" dirty="0" smtClean="0">
                <a:solidFill>
                  <a:srgbClr val="000000"/>
                </a:solidFill>
                <a:latin typeface="Kanit" pitchFamily="2" charset="-34"/>
                <a:cs typeface="Kanit" pitchFamily="2" charset="-34"/>
              </a:endParaRPr>
            </a:p>
            <a:p>
              <a:pPr algn="ctr" eaLnBrk="0" hangingPunct="0"/>
              <a:r>
                <a:rPr lang="th-TH" sz="2400" b="1" dirty="0" smtClean="0">
                  <a:solidFill>
                    <a:srgbClr val="000000"/>
                  </a:solidFill>
                  <a:latin typeface="Kanit" pitchFamily="2" charset="-34"/>
                  <a:cs typeface="Kanit" pitchFamily="2" charset="-34"/>
                </a:rPr>
                <a:t>ญาติ</a:t>
              </a:r>
            </a:p>
            <a:p>
              <a:pPr algn="ctr" eaLnBrk="0" hangingPunct="0"/>
              <a:endParaRPr lang="th-TH" sz="1000" b="1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93672" y="3285727"/>
              <a:ext cx="1697181" cy="57552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sz="2000"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362550" y="4964446"/>
            <a:ext cx="3257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Kanit" pitchFamily="2" charset="-34"/>
                <a:cs typeface="Kanit" pitchFamily="2" charset="-34"/>
              </a:rPr>
              <a:t>Strong 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7692" y="4964446"/>
            <a:ext cx="3087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Kanit" pitchFamily="2" charset="-34"/>
                <a:cs typeface="Kanit" pitchFamily="2" charset="-34"/>
              </a:rPr>
              <a:t>Weak 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35001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err="1" smtClean="0">
                <a:latin typeface="Kanit" pitchFamily="2" charset="-34"/>
                <a:cs typeface="Kanit" pitchFamily="2" charset="-34"/>
              </a:rPr>
              <a:t>Entitys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27559" y="1820028"/>
            <a:ext cx="8274496" cy="4691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th-TH" sz="2400" b="1" dirty="0" smtClean="0">
                <a:solidFill>
                  <a:srgbClr val="002060"/>
                </a:solidFill>
                <a:latin typeface="Kanit" pitchFamily="2" charset="-34"/>
                <a:cs typeface="Kanit" pitchFamily="2" charset="-34"/>
              </a:rPr>
              <a:t>ตัวอย่าง เอ็นทิตี้ </a:t>
            </a:r>
            <a:endParaRPr lang="en-US" sz="2400" b="1" dirty="0" smtClean="0">
              <a:solidFill>
                <a:srgbClr val="002060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บุคคล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: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พนักงาน นักศึกษา ลูกค้า ผู้ป่วย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สถานที่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: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ร้านค้า คลังสินค้า สถานี สาขา ห้อง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วัตถุ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	: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เครื่องจักร อาคาร เครื่องยนต์ สินค้า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เหตุการณ์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: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การขาย การลงทะเบียน การสั่งซื้อ การแจ้งซ่อม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แนวคิด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: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บัญชี หลักสูตร ศูนย์การทำงาน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1138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Attributes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81192" y="1965343"/>
            <a:ext cx="11029616" cy="4608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เป็นคุณสมบัติหรือลักษณะของ 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ที่เกี่ยวข้องกับกิจกรรม หรือมันคือสิ่งที่เราสนใจจะเก็บในฐานข้อมูล</a:t>
            </a:r>
          </a:p>
          <a:p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ตัวอย่าง 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ของ พนักงาน ประกอบด้วย</a:t>
            </a:r>
          </a:p>
          <a:p>
            <a:pPr lvl="2"/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รหัสพนักงาน</a:t>
            </a:r>
          </a:p>
          <a:p>
            <a:pPr lvl="2"/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ชื่อ</a:t>
            </a: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-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นามสกุล</a:t>
            </a:r>
          </a:p>
          <a:p>
            <a:pPr lvl="2"/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เพศ</a:t>
            </a:r>
          </a:p>
          <a:p>
            <a:pPr lvl="2"/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เงินเดือน</a:t>
            </a:r>
          </a:p>
          <a:p>
            <a:pPr marL="306000" lvl="2" indent="-306000"/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สัญลักษณ์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นั้นจะแทนด้วยวงรี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โดยมีชื่อของ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กำกับอยู่ภายใน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และมีเส้นเชื่อมต่อกับ </a:t>
            </a:r>
            <a:r>
              <a:rPr lang="en-US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ของมัน</a:t>
            </a:r>
          </a:p>
        </p:txBody>
      </p:sp>
    </p:spTree>
    <p:extLst>
      <p:ext uri="{BB962C8B-B14F-4D97-AF65-F5344CB8AC3E}">
        <p14:creationId xmlns:p14="http://schemas.microsoft.com/office/powerpoint/2010/main" val="3504740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Attributes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79730" y="4319694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Entity</a:t>
            </a:r>
            <a:endParaRPr lang="th-TH" sz="36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4063606" y="2177518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35814" y="2177518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2442918" y="3131562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u="sng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4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1510" y="3203570"/>
            <a:ext cx="1656184" cy="9361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*</a:t>
            </a:r>
            <a:r>
              <a:rPr lang="en-US" sz="2000" b="1" dirty="0" smtClean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endParaRPr lang="th-TH" sz="20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0" name="Straight Connector 9"/>
          <p:cNvCxnSpPr>
            <a:stCxn id="8" idx="6"/>
          </p:cNvCxnSpPr>
          <p:nvPr/>
        </p:nvCxnSpPr>
        <p:spPr>
          <a:xfrm>
            <a:off x="4099102" y="3599614"/>
            <a:ext cx="1332656" cy="7380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4"/>
            <a:endCxn id="4" idx="0"/>
          </p:cNvCxnSpPr>
          <p:nvPr/>
        </p:nvCxnSpPr>
        <p:spPr>
          <a:xfrm>
            <a:off x="4891698" y="3113622"/>
            <a:ext cx="1080120" cy="1206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4"/>
          </p:cNvCxnSpPr>
          <p:nvPr/>
        </p:nvCxnSpPr>
        <p:spPr>
          <a:xfrm flipH="1">
            <a:off x="6259342" y="3113622"/>
            <a:ext cx="504564" cy="1206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9" idx="2"/>
          </p:cNvCxnSpPr>
          <p:nvPr/>
        </p:nvCxnSpPr>
        <p:spPr>
          <a:xfrm flipH="1">
            <a:off x="6547882" y="3671622"/>
            <a:ext cx="1223628" cy="648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61309" y="5565884"/>
            <a:ext cx="8444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 smtClean="0">
                <a:latin typeface="Kanit" pitchFamily="2" charset="-34"/>
                <a:cs typeface="Kanit" pitchFamily="2" charset="-34"/>
              </a:rPr>
              <a:t>แอตทริบิวต์ใดถูกใช้เป็น 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Primary Key 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PK) 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จะถูกขีดเส้นใต้กำกับไว้</a:t>
            </a:r>
          </a:p>
          <a:p>
            <a:r>
              <a:rPr lang="th-TH" sz="2400" dirty="0" smtClean="0">
                <a:latin typeface="Kanit" pitchFamily="2" charset="-34"/>
                <a:cs typeface="Kanit" pitchFamily="2" charset="-34"/>
              </a:rPr>
              <a:t>และถ้าถูกใช้เป็น 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Foreign Key 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FK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) จะมีเครื่องหมาย *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9311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smtClean="0">
                <a:latin typeface="Kanit" pitchFamily="2" charset="-34"/>
                <a:cs typeface="Kanit" pitchFamily="2" charset="-34"/>
              </a:rPr>
              <a:t>Relationships</a:t>
            </a:r>
            <a:endParaRPr lang="en-US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74073" y="1997401"/>
            <a:ext cx="11236735" cy="288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ที่แสดงความสัมพันธ์ระหว่าง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 2 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ขึ้นไป </a:t>
            </a: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เป็นความสัมพันธ์ระหว่าง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ที่มี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Attributes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ร่วมกัน </a:t>
            </a: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โดยแต่ละความสัมพันธ์จะถูกระบุด้วยสัญลักษณ์สี่เหลี่ยมข้าวหลามตัด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(Diamond)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และคำที่อธิบายถึงความสัมพันธ์นั้น ๆ 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  <a:p>
            <a:pPr marL="800100" lvl="1" indent="-342900" algn="l" eaLnBrk="1" hangingPunct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พร้อมทั้งระบุชนิดของความสัมพันธ์ระหว่าง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Entity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นั้น ๆ 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ด้วย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06719" y="5411195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อาจารย์</a:t>
            </a:r>
            <a:endParaRPr lang="th-TH" sz="2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51335" y="5411195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  <a:endParaRPr lang="th-TH" sz="2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Flowchart: Decision 17"/>
          <p:cNvSpPr/>
          <p:nvPr/>
        </p:nvSpPr>
        <p:spPr>
          <a:xfrm>
            <a:off x="5279312" y="5159167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 smtClean="0">
                <a:latin typeface="Kanit" pitchFamily="2" charset="-34"/>
                <a:cs typeface="Kanit" pitchFamily="2" charset="-34"/>
              </a:rPr>
              <a:t>สอน</a:t>
            </a:r>
            <a:endParaRPr lang="th-TH" sz="2400" b="1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9" name="Straight Connector 18"/>
          <p:cNvCxnSpPr>
            <a:stCxn id="16" idx="3"/>
            <a:endCxn id="18" idx="1"/>
          </p:cNvCxnSpPr>
          <p:nvPr/>
        </p:nvCxnSpPr>
        <p:spPr>
          <a:xfrm>
            <a:off x="4090895" y="5807239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8" idx="3"/>
            <a:endCxn id="17" idx="1"/>
          </p:cNvCxnSpPr>
          <p:nvPr/>
        </p:nvCxnSpPr>
        <p:spPr>
          <a:xfrm>
            <a:off x="7007504" y="5807239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465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 smtClean="0">
                <a:latin typeface="Kanit" pitchFamily="2" charset="-34"/>
                <a:cs typeface="Kanit" pitchFamily="2" charset="-34"/>
              </a:rPr>
              <a:t>Relationships</a:t>
            </a:r>
            <a:endParaRPr lang="en-US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1192" y="2144154"/>
            <a:ext cx="10872382" cy="309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sz="3200" b="1" dirty="0">
                <a:latin typeface="Kanit" pitchFamily="2" charset="-34"/>
                <a:cs typeface="Kanit" pitchFamily="2" charset="-34"/>
              </a:rPr>
              <a:t>ประเภทของความสัมพันธ์ 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แบ่งได้เป็น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3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ประเภท</a:t>
            </a:r>
            <a:r>
              <a:rPr lang="en-US" sz="3200" b="1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b="1" dirty="0">
                <a:latin typeface="Kanit" pitchFamily="2" charset="-34"/>
                <a:cs typeface="Kanit" pitchFamily="2" charset="-34"/>
              </a:rPr>
              <a:t>คือ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Kanit" pitchFamily="2" charset="-34"/>
                <a:cs typeface="Kanit" pitchFamily="2" charset="-34"/>
              </a:rPr>
              <a:t>One-to-One Relationship (1:1)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Kanit" pitchFamily="2" charset="-34"/>
                <a:cs typeface="Kanit" pitchFamily="2" charset="-34"/>
              </a:rPr>
              <a:t>One-to-Many Relationship (1:M)</a:t>
            </a:r>
          </a:p>
          <a:p>
            <a:pPr marL="1028700" lvl="1" indent="-5715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Kanit" pitchFamily="2" charset="-34"/>
                <a:cs typeface="Kanit" pitchFamily="2" charset="-34"/>
              </a:rPr>
              <a:t>Many-to-Many Relationship (M:N)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19419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26199" y="701365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One-to-one Relationship</a:t>
            </a:r>
            <a:endParaRPr lang="th-TH" sz="4400" b="1" i="1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65018" y="1915811"/>
            <a:ext cx="10875818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thaiDist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	ความสัมพันธ์</a:t>
            </a:r>
            <a:r>
              <a:rPr lang="th-TH" dirty="0">
                <a:latin typeface="Kanit" pitchFamily="2" charset="-34"/>
                <a:cs typeface="Kanit" pitchFamily="2" charset="-34"/>
              </a:rPr>
              <a:t>ที่ค่าข้อมูลจริงของ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เอ็นทิตี้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หนึ่งสัมพันธ์กับค่าข้อมูลจริง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ของอีก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เอ็นทิตี้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หนึ่งเพียงค่าเดียวเท่านั้น</a:t>
            </a:r>
            <a:endParaRPr lang="th-TH" dirty="0">
              <a:latin typeface="Kanit" pitchFamily="2" charset="-34"/>
              <a:cs typeface="Kanit" pitchFamily="2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98335" y="359260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อาจารย์</a:t>
            </a:r>
            <a:endParaRPr lang="th-TH" sz="2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42951" y="359260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วิทยาลัย</a:t>
            </a:r>
            <a:endParaRPr lang="th-TH" sz="2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5270928" y="3340581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เป็นผู้อำนวยการ</a:t>
            </a:r>
            <a:endParaRPr lang="th-TH" sz="14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82511" y="3988653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99120" y="3988653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54519" y="355660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 smtClean="0">
                <a:latin typeface="Kanit" pitchFamily="2" charset="-34"/>
                <a:cs typeface="Kanit" pitchFamily="2" charset="-34"/>
              </a:rPr>
              <a:t>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2911" y="35269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 smtClean="0">
                <a:latin typeface="Kanit" pitchFamily="2" charset="-34"/>
                <a:cs typeface="Kanit" pitchFamily="2" charset="-34"/>
              </a:rPr>
              <a:t>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25109" y="5896657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วิทยาลัยมีอาจารย์ที่เป็นผู้อำนวยการได้เพียง 1 คน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0567" y="5233176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>
                <a:latin typeface="Kanit" pitchFamily="2" charset="-34"/>
                <a:cs typeface="Kanit" pitchFamily="2" charset="-34"/>
              </a:rPr>
              <a:t>อาจารย์</a:t>
            </a:r>
            <a:r>
              <a:rPr lang="th-TH" sz="2400" u="sng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คน เป็นผู้อำนวยการได้เพียง 1 วิทยาลัย </a:t>
            </a:r>
          </a:p>
        </p:txBody>
      </p:sp>
    </p:spTree>
    <p:extLst>
      <p:ext uri="{BB962C8B-B14F-4D97-AF65-F5344CB8AC3E}">
        <p14:creationId xmlns:p14="http://schemas.microsoft.com/office/powerpoint/2010/main" val="3727824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29074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One-to-many Relationship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23455" y="1943520"/>
            <a:ext cx="10931236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	ความสัมพันธ์</a:t>
            </a:r>
            <a:r>
              <a:rPr lang="th-TH" dirty="0">
                <a:latin typeface="Kanit" pitchFamily="2" charset="-34"/>
                <a:cs typeface="Kanit" pitchFamily="2" charset="-34"/>
              </a:rPr>
              <a:t>ของข้อมูล 2 ตัว ที่มีลักษณะ 1 ต่อ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หรือข้อมูลตัวหนึ่ง 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/>
            </a:r>
            <a:br>
              <a:rPr lang="th-TH" dirty="0" smtClean="0">
                <a:latin typeface="Kanit" pitchFamily="2" charset="-34"/>
                <a:cs typeface="Kanit" pitchFamily="2" charset="-34"/>
              </a:rPr>
            </a:br>
            <a:r>
              <a:rPr lang="th-TH" dirty="0" smtClean="0">
                <a:latin typeface="Kanit" pitchFamily="2" charset="-34"/>
                <a:cs typeface="Kanit" pitchFamily="2" charset="-34"/>
              </a:rPr>
              <a:t>จะ</a:t>
            </a:r>
            <a:r>
              <a:rPr lang="th-TH" dirty="0">
                <a:latin typeface="Kanit" pitchFamily="2" charset="-34"/>
                <a:cs typeface="Kanit" pitchFamily="2" charset="-34"/>
              </a:rPr>
              <a:t>มีความสัมพันธ์กับข้อมูลอีกตัวหนึ่งได้หลายค่า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626" y="3620318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สายผลิตภัณฑ์</a:t>
            </a:r>
            <a:endParaRPr lang="th-TH" sz="20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15242" y="3620318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ผลิตภัณฑ์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243219" y="3368290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มี</a:t>
            </a:r>
            <a:endParaRPr lang="th-TH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2" y="4016362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1" y="4016362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2955" y="365358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dirty="0" smtClean="0">
                <a:latin typeface="Kanit" pitchFamily="2" charset="-34"/>
                <a:cs typeface="Kanit" pitchFamily="2" charset="-34"/>
              </a:rPr>
              <a:t>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41347" y="36239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568" y="5924366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 smtClean="0">
                <a:latin typeface="Kanit" pitchFamily="2" charset="-34"/>
                <a:cs typeface="Kanit" pitchFamily="2" charset="-34"/>
              </a:rPr>
              <a:t>แต่ผลิตภัณฑ์</a:t>
            </a:r>
            <a:r>
              <a:rPr lang="th-TH" sz="2400" u="sng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ตัว มีสายผลิตภัณฑ์ได้ 1 สาย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75873" y="5260885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 smtClean="0">
                <a:latin typeface="Kanit" pitchFamily="2" charset="-34"/>
                <a:cs typeface="Kanit" pitchFamily="2" charset="-34"/>
              </a:rPr>
              <a:t>สายผลิตภัณฑ์</a:t>
            </a:r>
            <a:r>
              <a:rPr lang="th-TH" sz="2400" u="sng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สาย มีผลิตภัณฑ์ได้หลายตัว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70489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70638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Many-to-many Relationship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20436" y="1943519"/>
            <a:ext cx="1070956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	ความสัมพันธ์</a:t>
            </a:r>
            <a:r>
              <a:rPr lang="th-TH" dirty="0">
                <a:latin typeface="Kanit" pitchFamily="2" charset="-34"/>
                <a:cs typeface="Kanit" pitchFamily="2" charset="-34"/>
              </a:rPr>
              <a:t>ของข้อมูล 2 ตัว ที่มีลักษณะ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ต่อ </a:t>
            </a:r>
            <a:r>
              <a:rPr lang="en-US" dirty="0">
                <a:latin typeface="Kanit" pitchFamily="2" charset="-34"/>
                <a:cs typeface="Kanit" pitchFamily="2" charset="-34"/>
              </a:rPr>
              <a:t>M </a:t>
            </a:r>
            <a:r>
              <a:rPr lang="th-TH" dirty="0">
                <a:latin typeface="Kanit" pitchFamily="2" charset="-34"/>
                <a:cs typeface="Kanit" pitchFamily="2" charset="-34"/>
              </a:rPr>
              <a:t>หรือข้อมูลตัวหนึ่งที่มีหลายค่า จะมีความสัมพันธ์กับข้อมูลอีกตัวหนึ่งได้หลายค่า</a:t>
            </a: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  <a:p>
            <a:pPr marL="342900" indent="-342900" algn="l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v"/>
              <a:defRPr/>
            </a:pP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627" y="390834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15243" y="3908349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5243220" y="3656321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ลงทะเบียน</a:t>
            </a:r>
            <a:endParaRPr lang="th-TH" sz="12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3" y="4304393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2" y="4304393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26811" y="3983185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55203" y="398127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1192" y="5996580"/>
            <a:ext cx="78695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u="sng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รายวิชา นักศึกษาลงทะเบียนได้หลายคน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36676" y="5348509"/>
            <a:ext cx="8118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2400" dirty="0" smtClean="0">
                <a:latin typeface="Kanit" pitchFamily="2" charset="-34"/>
                <a:cs typeface="Kanit" pitchFamily="2" charset="-34"/>
              </a:rPr>
              <a:t>นักศึกษา</a:t>
            </a:r>
            <a:r>
              <a:rPr lang="th-TH" sz="2400" u="sng" dirty="0" smtClean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แต่ละ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คน ลงทะเบียนได้หลายรายวิชา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2090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31192" y="770638"/>
            <a:ext cx="792961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4400" b="1" i="1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Many-to-many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0627" y="3063222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15243" y="3063222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5243220" y="2811194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ลงทะเบียน</a:t>
            </a:r>
            <a:endParaRPr lang="th-TH" sz="12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7" name="Straight Connector 6"/>
          <p:cNvCxnSpPr>
            <a:stCxn id="4" idx="3"/>
            <a:endCxn id="6" idx="1"/>
          </p:cNvCxnSpPr>
          <p:nvPr/>
        </p:nvCxnSpPr>
        <p:spPr>
          <a:xfrm>
            <a:off x="4054803" y="3459266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3"/>
            <a:endCxn id="5" idx="1"/>
          </p:cNvCxnSpPr>
          <p:nvPr/>
        </p:nvCxnSpPr>
        <p:spPr>
          <a:xfrm>
            <a:off x="6971412" y="3459266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26811" y="313805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2815" y="313614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1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9769" y="3142851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1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0" y="3121825"/>
            <a:ext cx="445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2265" y="3136149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43220" y="2811194"/>
            <a:ext cx="1728192" cy="129614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/>
          <p:cNvSpPr txBox="1"/>
          <p:nvPr/>
        </p:nvSpPr>
        <p:spPr>
          <a:xfrm>
            <a:off x="5822010" y="3063222"/>
            <a:ext cx="57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dirty="0" smtClean="0">
                <a:latin typeface="Kanit" pitchFamily="2" charset="-34"/>
                <a:cs typeface="Kanit" pitchFamily="2" charset="-34"/>
              </a:rPr>
              <a:t>การ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00332" y="5043062"/>
            <a:ext cx="8391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atin typeface="Kanit" pitchFamily="2" charset="-34"/>
                <a:cs typeface="Kanit" pitchFamily="2" charset="-34"/>
              </a:rPr>
              <a:t>แปลงความสัมพันธ์ที่มีปัญหา ให้เป็นความสัมพันธ์แบบ </a:t>
            </a:r>
            <a:r>
              <a:rPr lang="en-US" dirty="0" smtClean="0">
                <a:latin typeface="Kanit" pitchFamily="2" charset="-34"/>
                <a:cs typeface="Kanit" pitchFamily="2" charset="-34"/>
              </a:rPr>
              <a:t>1:M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288990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06198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44444E-6 L -0.05651 -4.44444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  <p:bldP spid="18" grpId="0"/>
      <p:bldP spid="19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ตัวอย่างการสร้าง </a:t>
            </a:r>
            <a:r>
              <a:rPr lang="en-US" sz="4000" dirty="0" smtClean="0">
                <a:latin typeface="Kanit" pitchFamily="2" charset="-34"/>
                <a:cs typeface="Kanit" pitchFamily="2" charset="-34"/>
              </a:rPr>
              <a:t>ER-Diagram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3254" y="2130461"/>
            <a:ext cx="985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Kanit" pitchFamily="2" charset="-34"/>
                <a:cs typeface="Kanit" pitchFamily="2" charset="-34"/>
              </a:rPr>
              <a:t>กำหนดและอธิบายความสัมพันธ์ (</a:t>
            </a:r>
            <a:r>
              <a:rPr lang="en-US" dirty="0">
                <a:latin typeface="Kanit" pitchFamily="2" charset="-34"/>
                <a:cs typeface="Kanit" pitchFamily="2" charset="-34"/>
              </a:rPr>
              <a:t>Relationship) </a:t>
            </a:r>
            <a:r>
              <a:rPr lang="th-TH" dirty="0">
                <a:latin typeface="Kanit" pitchFamily="2" charset="-34"/>
                <a:cs typeface="Kanit" pitchFamily="2" charset="-34"/>
              </a:rPr>
              <a:t>ระหว่าง </a:t>
            </a:r>
            <a:r>
              <a:rPr lang="en-US" dirty="0">
                <a:latin typeface="Kanit" pitchFamily="2" charset="-34"/>
                <a:cs typeface="Kanit" pitchFamily="2" charset="-34"/>
              </a:rPr>
              <a:t>Entity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61855" y="3426531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นักศึกษา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6471" y="3426531"/>
            <a:ext cx="158417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8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รายวิชา</a:t>
            </a:r>
            <a:endParaRPr lang="th-TH" sz="1800" b="1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5434448" y="3174503"/>
            <a:ext cx="1728192" cy="1296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200" b="1" dirty="0" smtClean="0">
                <a:latin typeface="Kanit" pitchFamily="2" charset="-34"/>
                <a:cs typeface="Kanit" pitchFamily="2" charset="-34"/>
              </a:rPr>
              <a:t>ลงทะเบียน</a:t>
            </a:r>
            <a:endParaRPr lang="th-TH" sz="1200" b="1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8" name="Straight Connector 7"/>
          <p:cNvCxnSpPr>
            <a:stCxn id="5" idx="3"/>
            <a:endCxn id="7" idx="1"/>
          </p:cNvCxnSpPr>
          <p:nvPr/>
        </p:nvCxnSpPr>
        <p:spPr>
          <a:xfrm>
            <a:off x="4246031" y="3822575"/>
            <a:ext cx="1188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7" idx="3"/>
            <a:endCxn id="6" idx="1"/>
          </p:cNvCxnSpPr>
          <p:nvPr/>
        </p:nvCxnSpPr>
        <p:spPr>
          <a:xfrm>
            <a:off x="7162640" y="3822575"/>
            <a:ext cx="1043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39" y="3390527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46431" y="3360910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Kanit" pitchFamily="2" charset="-34"/>
                <a:cs typeface="Kanit" pitchFamily="2" charset="-34"/>
              </a:rPr>
              <a:t>M</a:t>
            </a:r>
            <a:endParaRPr lang="th-TH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3254" y="4866691"/>
            <a:ext cx="96965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สามารถอธิบายรายละเอียดได้ดังนี้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1.  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นักศึกษากับรายวิชา : 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Many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to  m</a:t>
            </a:r>
            <a:r>
              <a:rPr lang="en-US" sz="2400" dirty="0" smtClean="0">
                <a:latin typeface="Kanit" pitchFamily="2" charset="-34"/>
                <a:cs typeface="Kanit" pitchFamily="2" charset="-34"/>
              </a:rPr>
              <a:t>any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  <a:p>
            <a:r>
              <a:rPr lang="th-TH" sz="2400" dirty="0" smtClean="0">
                <a:latin typeface="Kanit" pitchFamily="2" charset="-34"/>
                <a:cs typeface="Kanit" pitchFamily="2" charset="-34"/>
              </a:rPr>
              <a:t>นักศึกษาแต่ละคนสามารถ</a:t>
            </a:r>
            <a:r>
              <a:rPr lang="th-TH" sz="2400" dirty="0" smtClean="0">
                <a:latin typeface="Kanit" pitchFamily="2" charset="-34"/>
                <a:cs typeface="Kanit" pitchFamily="2" charset="-34"/>
              </a:rPr>
              <a:t>ลงทะเบียนได้หลายรายวิชา แต่ละรายวิชาสามารถมีนักศึกษาลงทะเบียนได้หลายคน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9511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 smtClean="0">
                <a:latin typeface="Kanit" pitchFamily="2" charset="-34"/>
                <a:cs typeface="Kanit" pitchFamily="2" charset="-34"/>
              </a:rPr>
              <a:t>กิจกรรมกลุ่ม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2190750"/>
            <a:ext cx="10584873" cy="39329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§"/>
              <a:defRPr sz="32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BrowalliaUPC" pitchFamily="34" charset="-34"/>
                <a:ea typeface="+mn-ea"/>
                <a:cs typeface="BrowalliaUPC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ให้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นักศึกษาลองสร้าง </a:t>
            </a:r>
            <a:r>
              <a:rPr lang="en-US" dirty="0" smtClean="0">
                <a:latin typeface="Kanit" pitchFamily="2" charset="-34"/>
                <a:cs typeface="Kanit" pitchFamily="2" charset="-34"/>
              </a:rPr>
              <a:t>ER-Diagram 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ระบบบริการนักศึกษา (</a:t>
            </a:r>
            <a:r>
              <a:rPr lang="en-US" dirty="0" smtClean="0">
                <a:latin typeface="Kanit" pitchFamily="2" charset="-34"/>
                <a:cs typeface="Kanit" pitchFamily="2" charset="-34"/>
              </a:rPr>
              <a:t>ESS) 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/>
            </a:r>
            <a:br>
              <a:rPr lang="th-TH" dirty="0" smtClean="0">
                <a:latin typeface="Kanit" pitchFamily="2" charset="-34"/>
                <a:cs typeface="Kanit" pitchFamily="2" charset="-34"/>
              </a:rPr>
            </a:br>
            <a:r>
              <a:rPr lang="th-TH" dirty="0" smtClean="0">
                <a:latin typeface="Kanit" pitchFamily="2" charset="-34"/>
                <a:cs typeface="Kanit" pitchFamily="2" charset="-34"/>
              </a:rPr>
              <a:t>โดย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กำหนดให้มีเอ็นทิตี้อย่างน้อย </a:t>
            </a:r>
            <a:r>
              <a:rPr lang="en-US" dirty="0">
                <a:latin typeface="Kanit" pitchFamily="2" charset="-34"/>
                <a:cs typeface="Kanit" pitchFamily="2" charset="-34"/>
              </a:rPr>
              <a:t>4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 เอ็นทิตี้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ให้กำหนดแอตทริบิวต์ให้กับแต่ละเอ็นทิตี้ด้วย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ทำการกำหนด </a:t>
            </a:r>
            <a:r>
              <a:rPr lang="en-US" dirty="0" smtClean="0">
                <a:latin typeface="Kanit" pitchFamily="2" charset="-34"/>
                <a:cs typeface="Kanit" pitchFamily="2" charset="-34"/>
              </a:rPr>
              <a:t>PK </a:t>
            </a:r>
            <a:r>
              <a:rPr lang="th-TH" dirty="0" smtClean="0">
                <a:latin typeface="Kanit" pitchFamily="2" charset="-34"/>
                <a:cs typeface="Kanit" pitchFamily="2" charset="-34"/>
              </a:rPr>
              <a:t>ให้แต่ละเอ็นทิตี้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th-TH" dirty="0" smtClean="0">
                <a:latin typeface="Kanit" pitchFamily="2" charset="-34"/>
                <a:cs typeface="Kanit" pitchFamily="2" charset="-34"/>
              </a:rPr>
              <a:t>และกำหนดความสัมพันธ์ระหว่างเอ็นทิตี้</a:t>
            </a:r>
            <a:endParaRPr lang="en-US" dirty="0" smtClean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8161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พจนานุกรมข้อมูล (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Data Dictionary)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81192" y="2256283"/>
            <a:ext cx="11029616" cy="401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folHlink"/>
              </a:buClr>
              <a:buNone/>
            </a:pPr>
            <a:r>
              <a:rPr lang="th-TH" sz="2400" b="1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พจนานุกรมข้อมูล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 แฟ้มที่เก็บรวบรวมรายละเอียดต่างๆ เกี่ยวกับข้อมูลที่จัดเก็บอยู่ภายในฐานข้อมูล รายละเอียดพื้นฐานประกอบด้วย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1. ชื่อรีเลชั่น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r>
              <a:rPr lang="en-GB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2.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ชื่อแอตทริบิวต์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3.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คำอธิบายข้อมูล</a:t>
            </a:r>
            <a:endParaRPr lang="en-US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GB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4.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ชนิดข้อมูล</a:t>
            </a:r>
            <a:r>
              <a:rPr lang="en-GB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endParaRPr lang="th-TH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</a:t>
            </a:r>
            <a:r>
              <a:rPr lang="en-GB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5. </a:t>
            </a: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คีย์หลัก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th-TH" sz="2400" dirty="0" smtClean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	6. รายละเอียดอื่น ๆ</a:t>
            </a:r>
            <a:endParaRPr lang="en-GB" sz="2400" dirty="0" smtClean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38600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Kanit" pitchFamily="2" charset="-34"/>
                <a:cs typeface="Kanit" pitchFamily="2" charset="-34"/>
              </a:rPr>
              <a:t>Example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93948"/>
              </p:ext>
            </p:extLst>
          </p:nvPr>
        </p:nvGraphicFramePr>
        <p:xfrm>
          <a:off x="581192" y="2966861"/>
          <a:ext cx="11029617" cy="35586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07">
                  <a:extLst>
                    <a:ext uri="{9D8B030D-6E8A-4147-A177-3AD203B41FA5}">
                      <a16:colId xmlns:a16="http://schemas.microsoft.com/office/drawing/2014/main" val="1049524141"/>
                    </a:ext>
                  </a:extLst>
                </a:gridCol>
                <a:gridCol w="2456526">
                  <a:extLst>
                    <a:ext uri="{9D8B030D-6E8A-4147-A177-3AD203B41FA5}">
                      <a16:colId xmlns:a16="http://schemas.microsoft.com/office/drawing/2014/main" val="366515383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951118721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2646155494"/>
                    </a:ext>
                  </a:extLst>
                </a:gridCol>
                <a:gridCol w="2128728">
                  <a:extLst>
                    <a:ext uri="{9D8B030D-6E8A-4147-A177-3AD203B41FA5}">
                      <a16:colId xmlns:a16="http://schemas.microsoft.com/office/drawing/2014/main" val="2806129325"/>
                    </a:ext>
                  </a:extLst>
                </a:gridCol>
              </a:tblGrid>
              <a:tr h="7772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Kanit" pitchFamily="2" charset="-34"/>
                          <a:cs typeface="Kanit" pitchFamily="2" charset="-34"/>
                        </a:rPr>
                        <a:t>Field</a:t>
                      </a:r>
                      <a:r>
                        <a:rPr lang="en-US" sz="2000" b="1" baseline="0" dirty="0" smtClean="0">
                          <a:latin typeface="Kanit" pitchFamily="2" charset="-34"/>
                          <a:cs typeface="Kanit" pitchFamily="2" charset="-34"/>
                        </a:rPr>
                        <a:t> name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Kanit" pitchFamily="2" charset="-34"/>
                          <a:cs typeface="Kanit" pitchFamily="2" charset="-34"/>
                        </a:rPr>
                        <a:t>Description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Kanit" pitchFamily="2" charset="-34"/>
                          <a:cs typeface="Kanit" pitchFamily="2" charset="-34"/>
                        </a:rPr>
                        <a:t>Data type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Kanit" pitchFamily="2" charset="-34"/>
                          <a:cs typeface="Kanit" pitchFamily="2" charset="-34"/>
                        </a:rPr>
                        <a:t>Field size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Kanit" pitchFamily="2" charset="-34"/>
                          <a:cs typeface="Kanit" pitchFamily="2" charset="-34"/>
                        </a:rPr>
                        <a:t>Key</a:t>
                      </a:r>
                      <a:endParaRPr lang="th-TH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444800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latin typeface="Kanit" pitchFamily="2" charset="-34"/>
                          <a:cs typeface="Kanit" pitchFamily="2" charset="-34"/>
                        </a:rPr>
                        <a:t>Stu_id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รหัสนักศึกษา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13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PK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0550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latin typeface="Kanit" pitchFamily="2" charset="-34"/>
                          <a:cs typeface="Kanit" pitchFamily="2" charset="-34"/>
                        </a:rPr>
                        <a:t>Std_prefix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คำนำหน้าชื่อ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5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605192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latin typeface="Kanit" pitchFamily="2" charset="-34"/>
                          <a:cs typeface="Kanit" pitchFamily="2" charset="-34"/>
                        </a:rPr>
                        <a:t>Std_name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ชื่อนักศึกษา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25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55284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latin typeface="Kanit" pitchFamily="2" charset="-34"/>
                          <a:cs typeface="Kanit" pitchFamily="2" charset="-34"/>
                        </a:rPr>
                        <a:t>Std_sname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นามสกุลนักศึกษา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25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0029"/>
                  </a:ext>
                </a:extLst>
              </a:tr>
              <a:tr h="55627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>
                          <a:latin typeface="Kanit" pitchFamily="2" charset="-34"/>
                          <a:cs typeface="Kanit" pitchFamily="2" charset="-34"/>
                        </a:rPr>
                        <a:t>Subject_id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รหัสรายวิชา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Varchar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dirty="0" smtClean="0">
                          <a:latin typeface="Kanit" pitchFamily="2" charset="-34"/>
                          <a:cs typeface="Kanit" pitchFamily="2" charset="-34"/>
                        </a:rPr>
                        <a:t>10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Kanit" pitchFamily="2" charset="-34"/>
                          <a:cs typeface="Kanit" pitchFamily="2" charset="-34"/>
                        </a:rPr>
                        <a:t>FK</a:t>
                      </a:r>
                      <a:endParaRPr lang="th-TH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5058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191" y="2227620"/>
            <a:ext cx="8230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 smtClean="0">
                <a:latin typeface="Kanit" pitchFamily="2" charset="-34"/>
                <a:cs typeface="Kanit" pitchFamily="2" charset="-34"/>
              </a:rPr>
              <a:t>ตาราง</a:t>
            </a:r>
            <a:r>
              <a:rPr lang="th-TH" sz="3600" dirty="0" smtClean="0">
                <a:latin typeface="Kanit" pitchFamily="2" charset="-34"/>
                <a:cs typeface="Kanit" pitchFamily="2" charset="-34"/>
              </a:rPr>
              <a:t>นักศึกษา (</a:t>
            </a:r>
            <a:r>
              <a:rPr lang="en-US" sz="3600" dirty="0" smtClean="0">
                <a:latin typeface="Kanit" pitchFamily="2" charset="-34"/>
                <a:cs typeface="Kanit" pitchFamily="2" charset="-34"/>
              </a:rPr>
              <a:t>STUDENT)</a:t>
            </a:r>
            <a:endParaRPr lang="th-TH" sz="36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74899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Any questions?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21582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4230</TotalTime>
  <Words>677</Words>
  <Application>Microsoft Office PowerPoint</Application>
  <PresentationFormat>Widescreen</PresentationFormat>
  <Paragraphs>179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Cordia New</vt:lpstr>
      <vt:lpstr>Gill Sans MT</vt:lpstr>
      <vt:lpstr>Kanit</vt:lpstr>
      <vt:lpstr>Monotype Sorts</vt:lpstr>
      <vt:lpstr>Prompt</vt:lpstr>
      <vt:lpstr>TH SarabunPSK</vt:lpstr>
      <vt:lpstr>Wingdings</vt:lpstr>
      <vt:lpstr>Wingdings 2</vt:lpstr>
      <vt:lpstr>Dividend</vt:lpstr>
      <vt:lpstr>บทที่ 6 แบบจำลองข้อมูล (Data  Modeling) </vt:lpstr>
      <vt:lpstr>บทที่ 6 แบบจำลองข้อมูล </vt:lpstr>
      <vt:lpstr>Process Model Vs Data Model</vt:lpstr>
      <vt:lpstr>Example</vt:lpstr>
      <vt:lpstr>PowerPoint Presentation</vt:lpstr>
      <vt:lpstr>PowerPoint Presentation</vt:lpstr>
      <vt:lpstr>PowerPoint Presentation</vt:lpstr>
      <vt:lpstr>Entity Relationship Diagram (ERD)</vt:lpstr>
      <vt:lpstr>Entity Relationship Diagram (ERD)</vt:lpstr>
      <vt:lpstr>Entitys</vt:lpstr>
      <vt:lpstr>Entitys</vt:lpstr>
      <vt:lpstr>Entitys</vt:lpstr>
      <vt:lpstr>Attributes</vt:lpstr>
      <vt:lpstr>Attributes</vt:lpstr>
      <vt:lpstr>Relationships</vt:lpstr>
      <vt:lpstr>Relationships</vt:lpstr>
      <vt:lpstr>PowerPoint Presentation</vt:lpstr>
      <vt:lpstr>PowerPoint Presentation</vt:lpstr>
      <vt:lpstr>PowerPoint Presentation</vt:lpstr>
      <vt:lpstr>PowerPoint Presentation</vt:lpstr>
      <vt:lpstr>ตัวอย่างการสร้าง ER-Diagram</vt:lpstr>
      <vt:lpstr>กิจกรรมกลุ่ม</vt:lpstr>
      <vt:lpstr>พจนานุกรมข้อมูล (Data Dictionary)</vt:lpstr>
      <vt:lpstr>Example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1  ความรู้ด้านธุรกิจและเทคโนโลยีสารสนเทศ</dc:title>
  <dc:creator>Windows User</dc:creator>
  <cp:lastModifiedBy>Windows User</cp:lastModifiedBy>
  <cp:revision>837</cp:revision>
  <dcterms:created xsi:type="dcterms:W3CDTF">2023-03-22T07:54:09Z</dcterms:created>
  <dcterms:modified xsi:type="dcterms:W3CDTF">2023-09-04T09:53:36Z</dcterms:modified>
</cp:coreProperties>
</file>